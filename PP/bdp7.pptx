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7" r:id="rId3"/>
    <p:sldId id="266" r:id="rId4"/>
    <p:sldId id="267" r:id="rId5"/>
    <p:sldId id="262" r:id="rId6"/>
    <p:sldId id="263" r:id="rId7"/>
    <p:sldId id="268" r:id="rId8"/>
    <p:sldId id="264" r:id="rId9"/>
    <p:sldId id="269" r:id="rId10"/>
    <p:sldId id="265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294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7089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453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1685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0095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7060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3979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505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631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6106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3089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9655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3956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68365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0298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90344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553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5C9BE59-9FDA-4218-B1E5-74AAF748D947}" type="datetimeFigureOut">
              <a:rPr lang="bg-BG" smtClean="0"/>
              <a:t>3.5.2026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385539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611C-9077-6C71-8C79-CD09B39F0D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latin typeface="Georgia" panose="02040502050405020303" pitchFamily="18" charset="0"/>
              </a:rPr>
              <a:t>Безопасност на движението по пътищата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9F228-2C4F-DBFD-1611-04B0EA356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708656"/>
            <a:ext cx="9144000" cy="858981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Georgia" panose="02040502050405020303" pitchFamily="18" charset="0"/>
              </a:rPr>
              <a:t>StreetIQ</a:t>
            </a:r>
            <a:r>
              <a:rPr lang="en-US" sz="3200" dirty="0">
                <a:latin typeface="Georgia" panose="02040502050405020303" pitchFamily="18" charset="0"/>
              </a:rPr>
              <a:t> – </a:t>
            </a:r>
            <a:r>
              <a:rPr lang="bg-BG" sz="3200" dirty="0">
                <a:latin typeface="Georgia" panose="02040502050405020303" pitchFamily="18" charset="0"/>
              </a:rPr>
              <a:t>интелигентни на пътя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734FB-BE70-BC81-2795-6A84348A07C5}"/>
              </a:ext>
            </a:extLst>
          </p:cNvPr>
          <p:cNvSpPr txBox="1"/>
          <p:nvPr/>
        </p:nvSpPr>
        <p:spPr>
          <a:xfrm>
            <a:off x="163286" y="5087034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3600" dirty="0">
                <a:latin typeface="Georgia" panose="02040502050405020303" pitchFamily="18" charset="0"/>
              </a:rPr>
              <a:t>по учебната програма за 7</a:t>
            </a:r>
            <a:r>
              <a:rPr lang="en-US" sz="3600">
                <a:latin typeface="Georgia" panose="02040502050405020303" pitchFamily="18" charset="0"/>
              </a:rPr>
              <a:t>.</a:t>
            </a:r>
            <a:r>
              <a:rPr lang="bg-BG" sz="3600">
                <a:latin typeface="Georgia" panose="02040502050405020303" pitchFamily="18" charset="0"/>
              </a:rPr>
              <a:t> </a:t>
            </a:r>
            <a:r>
              <a:rPr lang="bg-BG" sz="3600" dirty="0">
                <a:latin typeface="Georgia" panose="02040502050405020303" pitchFamily="18" charset="0"/>
              </a:rPr>
              <a:t>клас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24495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931E-58A9-ED8D-66B8-3E3D544B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75" y="2165663"/>
            <a:ext cx="6722443" cy="3844576"/>
          </a:xfrm>
        </p:spPr>
        <p:txBody>
          <a:bodyPr>
            <a:noAutofit/>
          </a:bodyPr>
          <a:lstStyle/>
          <a:p>
            <a:r>
              <a:rPr lang="ru-RU" sz="2000" b="1" dirty="0" err="1"/>
              <a:t>Пътна</a:t>
            </a:r>
            <a:r>
              <a:rPr lang="ru-RU" sz="2000" b="1" dirty="0"/>
              <a:t> карта</a:t>
            </a:r>
            <a:br>
              <a:rPr lang="ru-RU" sz="2000" dirty="0"/>
            </a:br>
            <a:r>
              <a:rPr lang="ru-RU" sz="2000" dirty="0" err="1"/>
              <a:t>Пътната</a:t>
            </a:r>
            <a:r>
              <a:rPr lang="ru-RU" sz="2000" dirty="0"/>
              <a:t> карта </a:t>
            </a:r>
            <a:r>
              <a:rPr lang="ru-RU" sz="2000" dirty="0" err="1"/>
              <a:t>показва</a:t>
            </a:r>
            <a:r>
              <a:rPr lang="ru-RU" sz="2000" dirty="0"/>
              <a:t> </a:t>
            </a:r>
            <a:r>
              <a:rPr lang="ru-RU" sz="2000" dirty="0" err="1"/>
              <a:t>пътищата</a:t>
            </a:r>
            <a:r>
              <a:rPr lang="ru-RU" sz="2000" dirty="0"/>
              <a:t>, </a:t>
            </a:r>
            <a:r>
              <a:rPr lang="ru-RU" sz="2000" dirty="0" err="1"/>
              <a:t>населените</a:t>
            </a:r>
            <a:r>
              <a:rPr lang="ru-RU" sz="2000" dirty="0"/>
              <a:t> места и </a:t>
            </a:r>
            <a:r>
              <a:rPr lang="ru-RU" sz="2000" dirty="0" err="1"/>
              <a:t>разстоянията</a:t>
            </a:r>
            <a:r>
              <a:rPr lang="ru-RU" sz="2000" dirty="0"/>
              <a:t> между </a:t>
            </a:r>
            <a:r>
              <a:rPr lang="ru-RU" sz="2000" dirty="0" err="1"/>
              <a:t>тях</a:t>
            </a:r>
            <a:r>
              <a:rPr lang="ru-RU" sz="2000" dirty="0"/>
              <a:t>. С </a:t>
            </a:r>
            <a:r>
              <a:rPr lang="ru-RU" sz="2000" dirty="0" err="1"/>
              <a:t>нейна</a:t>
            </a:r>
            <a:r>
              <a:rPr lang="ru-RU" sz="2000" dirty="0"/>
              <a:t> </a:t>
            </a:r>
            <a:r>
              <a:rPr lang="ru-RU" sz="2000" dirty="0" err="1"/>
              <a:t>помощ</a:t>
            </a:r>
            <a:r>
              <a:rPr lang="ru-RU" sz="2000" dirty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да се </a:t>
            </a:r>
            <a:r>
              <a:rPr lang="ru-RU" sz="2000" dirty="0" err="1"/>
              <a:t>избере</a:t>
            </a:r>
            <a:r>
              <a:rPr lang="ru-RU" sz="2000" dirty="0"/>
              <a:t> </a:t>
            </a:r>
            <a:r>
              <a:rPr lang="ru-RU" sz="2000" dirty="0" err="1"/>
              <a:t>подходящ</a:t>
            </a:r>
            <a:r>
              <a:rPr lang="ru-RU" sz="2000" dirty="0"/>
              <a:t> маршрут от </a:t>
            </a:r>
            <a:r>
              <a:rPr lang="ru-RU" sz="2000" dirty="0" err="1"/>
              <a:t>едно</a:t>
            </a:r>
            <a:r>
              <a:rPr lang="ru-RU" sz="2000" dirty="0"/>
              <a:t> населено </a:t>
            </a:r>
            <a:r>
              <a:rPr lang="ru-RU" sz="2000" dirty="0" err="1"/>
              <a:t>място</a:t>
            </a:r>
            <a:r>
              <a:rPr lang="ru-RU" sz="2000" dirty="0"/>
              <a:t> до </a:t>
            </a:r>
            <a:r>
              <a:rPr lang="ru-RU" sz="2000" dirty="0" err="1"/>
              <a:t>друго</a:t>
            </a:r>
            <a:r>
              <a:rPr lang="ru-RU" sz="2000" dirty="0"/>
              <a:t>.</a:t>
            </a:r>
          </a:p>
          <a:p>
            <a:r>
              <a:rPr lang="ru-RU" sz="2000" b="1" dirty="0" err="1"/>
              <a:t>Избор</a:t>
            </a:r>
            <a:r>
              <a:rPr lang="ru-RU" sz="2000" b="1" dirty="0"/>
              <a:t> на маршрут по карта</a:t>
            </a:r>
            <a:br>
              <a:rPr lang="ru-RU" sz="2000" dirty="0"/>
            </a:br>
            <a:r>
              <a:rPr lang="ru-RU" sz="2000" dirty="0" err="1"/>
              <a:t>Маршрутът</a:t>
            </a:r>
            <a:r>
              <a:rPr lang="ru-RU" sz="2000" dirty="0"/>
              <a:t> се </a:t>
            </a:r>
            <a:r>
              <a:rPr lang="ru-RU" sz="2000" dirty="0" err="1"/>
              <a:t>избира</a:t>
            </a:r>
            <a:r>
              <a:rPr lang="ru-RU" sz="2000" dirty="0"/>
              <a:t>, </a:t>
            </a:r>
            <a:r>
              <a:rPr lang="ru-RU" sz="2000" dirty="0" err="1"/>
              <a:t>като</a:t>
            </a:r>
            <a:r>
              <a:rPr lang="ru-RU" sz="2000" dirty="0"/>
              <a:t> се определят </a:t>
            </a:r>
            <a:r>
              <a:rPr lang="ru-RU" sz="2000" dirty="0" err="1"/>
              <a:t>началната</a:t>
            </a:r>
            <a:r>
              <a:rPr lang="ru-RU" sz="2000" dirty="0"/>
              <a:t> и </a:t>
            </a:r>
            <a:r>
              <a:rPr lang="ru-RU" sz="2000" dirty="0" err="1"/>
              <a:t>крайната</a:t>
            </a:r>
            <a:r>
              <a:rPr lang="ru-RU" sz="2000" dirty="0"/>
              <a:t> точка и се </a:t>
            </a:r>
            <a:r>
              <a:rPr lang="ru-RU" sz="2000" dirty="0" err="1"/>
              <a:t>следват</a:t>
            </a:r>
            <a:r>
              <a:rPr lang="ru-RU" sz="2000" dirty="0"/>
              <a:t> най-</a:t>
            </a:r>
            <a:r>
              <a:rPr lang="ru-RU" sz="2000" dirty="0" err="1"/>
              <a:t>удобните</a:t>
            </a:r>
            <a:r>
              <a:rPr lang="ru-RU" sz="2000" dirty="0"/>
              <a:t> </a:t>
            </a:r>
            <a:r>
              <a:rPr lang="ru-RU" sz="2000" dirty="0" err="1"/>
              <a:t>пътища</a:t>
            </a:r>
            <a:r>
              <a:rPr lang="ru-RU" sz="2000" dirty="0"/>
              <a:t>. Важно е да се </a:t>
            </a:r>
            <a:r>
              <a:rPr lang="ru-RU" sz="2000" dirty="0" err="1"/>
              <a:t>съобразят</a:t>
            </a:r>
            <a:r>
              <a:rPr lang="ru-RU" sz="2000" dirty="0"/>
              <a:t> </a:t>
            </a:r>
            <a:r>
              <a:rPr lang="ru-RU" sz="2000" dirty="0" err="1"/>
              <a:t>разстояние</a:t>
            </a:r>
            <a:r>
              <a:rPr lang="ru-RU" sz="2000" dirty="0"/>
              <a:t>, вид на </a:t>
            </a:r>
            <a:r>
              <a:rPr lang="ru-RU" sz="2000" dirty="0" err="1"/>
              <a:t>пътя</a:t>
            </a:r>
            <a:r>
              <a:rPr lang="ru-RU" sz="2000" dirty="0"/>
              <a:t> и </a:t>
            </a:r>
            <a:r>
              <a:rPr lang="ru-RU" sz="2000" dirty="0" err="1"/>
              <a:t>условията</a:t>
            </a:r>
            <a:r>
              <a:rPr lang="ru-RU" sz="2000" dirty="0"/>
              <a:t> за движение.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A953-4541-B272-4BD3-32346CC2F84C}"/>
              </a:ext>
            </a:extLst>
          </p:cNvPr>
          <p:cNvSpPr txBox="1"/>
          <p:nvPr/>
        </p:nvSpPr>
        <p:spPr>
          <a:xfrm>
            <a:off x="408275" y="176843"/>
            <a:ext cx="10122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Карта на </a:t>
            </a:r>
            <a:r>
              <a:rPr lang="ru-RU" sz="3600" dirty="0" err="1"/>
              <a:t>пътищата</a:t>
            </a:r>
            <a:r>
              <a:rPr lang="ru-RU" sz="3600" dirty="0"/>
              <a:t> в </a:t>
            </a:r>
            <a:r>
              <a:rPr lang="ru-RU" sz="3600" dirty="0" err="1"/>
              <a:t>България</a:t>
            </a:r>
            <a:r>
              <a:rPr lang="ru-RU" sz="3600" dirty="0"/>
              <a:t> и </a:t>
            </a:r>
            <a:r>
              <a:rPr lang="ru-RU" sz="3600" dirty="0" err="1"/>
              <a:t>автомобилна</a:t>
            </a:r>
            <a:r>
              <a:rPr lang="ru-RU" sz="3600" dirty="0"/>
              <a:t> навигация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2" name="Picture 2" descr="Републиканска пътна мрежа на България – Уикипедия">
            <a:extLst>
              <a:ext uri="{FF2B5EF4-FFF2-40B4-BE49-F238E27FC236}">
                <a16:creationId xmlns:a16="http://schemas.microsoft.com/office/drawing/2014/main" id="{20A041AF-7239-9A81-ED2D-A7D31DA0D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745" y="1608998"/>
            <a:ext cx="3247617" cy="205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Изчисляване на маршрут с помощта на Marshruti.eu">
            <a:extLst>
              <a:ext uri="{FF2B5EF4-FFF2-40B4-BE49-F238E27FC236}">
                <a16:creationId xmlns:a16="http://schemas.microsoft.com/office/drawing/2014/main" id="{79824DA4-0EB7-AD04-6159-E7AED1134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862" y="4087951"/>
            <a:ext cx="3238500" cy="228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84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931E-58A9-ED8D-66B8-3E3D544B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75" y="1959923"/>
            <a:ext cx="6737683" cy="3433096"/>
          </a:xfrm>
        </p:spPr>
        <p:txBody>
          <a:bodyPr>
            <a:noAutofit/>
          </a:bodyPr>
          <a:lstStyle/>
          <a:p>
            <a:r>
              <a:rPr lang="ru-RU" sz="2000" b="1" dirty="0"/>
              <a:t>GPS навигация</a:t>
            </a:r>
            <a:br>
              <a:rPr lang="ru-RU" sz="2000" dirty="0"/>
            </a:br>
            <a:r>
              <a:rPr lang="ru-RU" sz="2000" dirty="0"/>
              <a:t>GPS </a:t>
            </a:r>
            <a:r>
              <a:rPr lang="ru-RU" sz="2000" dirty="0" err="1"/>
              <a:t>навигацията</a:t>
            </a:r>
            <a:r>
              <a:rPr lang="ru-RU" sz="2000" dirty="0"/>
              <a:t> </a:t>
            </a:r>
            <a:r>
              <a:rPr lang="ru-RU" sz="2000" dirty="0" err="1"/>
              <a:t>показва</a:t>
            </a:r>
            <a:r>
              <a:rPr lang="ru-RU" sz="2000" dirty="0"/>
              <a:t> </a:t>
            </a:r>
            <a:r>
              <a:rPr lang="ru-RU" sz="2000" dirty="0" err="1"/>
              <a:t>текущото</a:t>
            </a:r>
            <a:r>
              <a:rPr lang="ru-RU" sz="2000" dirty="0"/>
              <a:t> местоположение и </a:t>
            </a:r>
            <a:r>
              <a:rPr lang="ru-RU" sz="2000" dirty="0" err="1"/>
              <a:t>предлага</a:t>
            </a:r>
            <a:r>
              <a:rPr lang="ru-RU" sz="2000" dirty="0"/>
              <a:t> най-</a:t>
            </a:r>
            <a:r>
              <a:rPr lang="ru-RU" sz="2000" dirty="0" err="1"/>
              <a:t>бърз</a:t>
            </a:r>
            <a:r>
              <a:rPr lang="ru-RU" sz="2000" dirty="0"/>
              <a:t> или най-</a:t>
            </a:r>
            <a:r>
              <a:rPr lang="ru-RU" sz="2000" dirty="0" err="1"/>
              <a:t>кратък</a:t>
            </a:r>
            <a:r>
              <a:rPr lang="ru-RU" sz="2000" dirty="0"/>
              <a:t> маршрут. </a:t>
            </a:r>
            <a:r>
              <a:rPr lang="ru-RU" sz="2000" dirty="0" err="1"/>
              <a:t>Тя</a:t>
            </a:r>
            <a:r>
              <a:rPr lang="ru-RU" sz="2000" dirty="0"/>
              <a:t> се </a:t>
            </a:r>
            <a:r>
              <a:rPr lang="ru-RU" sz="2000" dirty="0" err="1"/>
              <a:t>актуализира</a:t>
            </a:r>
            <a:r>
              <a:rPr lang="ru-RU" sz="2000" dirty="0"/>
              <a:t> в </a:t>
            </a:r>
            <a:r>
              <a:rPr lang="ru-RU" sz="2000" dirty="0" err="1"/>
              <a:t>реално</a:t>
            </a:r>
            <a:r>
              <a:rPr lang="ru-RU" sz="2000" dirty="0"/>
              <a:t> </a:t>
            </a:r>
            <a:r>
              <a:rPr lang="ru-RU" sz="2000" dirty="0" err="1"/>
              <a:t>време</a:t>
            </a:r>
            <a:r>
              <a:rPr lang="ru-RU" sz="2000" dirty="0"/>
              <a:t> </a:t>
            </a:r>
            <a:r>
              <a:rPr lang="ru-RU" sz="2000" dirty="0" err="1"/>
              <a:t>според</a:t>
            </a:r>
            <a:r>
              <a:rPr lang="ru-RU" sz="2000" dirty="0"/>
              <a:t> трафика и </a:t>
            </a:r>
            <a:r>
              <a:rPr lang="ru-RU" sz="2000" dirty="0" err="1"/>
              <a:t>пътните</a:t>
            </a:r>
            <a:r>
              <a:rPr lang="ru-RU" sz="2000" dirty="0"/>
              <a:t> условия.</a:t>
            </a:r>
          </a:p>
          <a:p>
            <a:r>
              <a:rPr lang="ru-RU" sz="2000" b="1" dirty="0" err="1"/>
              <a:t>Особености</a:t>
            </a:r>
            <a:r>
              <a:rPr lang="ru-RU" sz="2000" b="1" dirty="0"/>
              <a:t> на маршрута</a:t>
            </a:r>
            <a:br>
              <a:rPr lang="ru-RU" sz="2000" dirty="0"/>
            </a:br>
            <a:r>
              <a:rPr lang="ru-RU" sz="2000" dirty="0" err="1"/>
              <a:t>Маршрутът</a:t>
            </a:r>
            <a:r>
              <a:rPr lang="ru-RU" sz="2000" dirty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да </a:t>
            </a:r>
            <a:r>
              <a:rPr lang="ru-RU" sz="2000" dirty="0" err="1"/>
              <a:t>включва</a:t>
            </a:r>
            <a:r>
              <a:rPr lang="ru-RU" sz="2000" dirty="0"/>
              <a:t> </a:t>
            </a:r>
            <a:r>
              <a:rPr lang="ru-RU" sz="2000" dirty="0" err="1"/>
              <a:t>различни</a:t>
            </a:r>
            <a:r>
              <a:rPr lang="ru-RU" sz="2000" dirty="0"/>
              <a:t> </a:t>
            </a:r>
            <a:r>
              <a:rPr lang="ru-RU" sz="2000" dirty="0" err="1"/>
              <a:t>видове</a:t>
            </a:r>
            <a:r>
              <a:rPr lang="ru-RU" sz="2000" dirty="0"/>
              <a:t> </a:t>
            </a:r>
            <a:r>
              <a:rPr lang="ru-RU" sz="2000" dirty="0" err="1"/>
              <a:t>пътища</a:t>
            </a:r>
            <a:r>
              <a:rPr lang="ru-RU" sz="2000" dirty="0"/>
              <a:t>, </a:t>
            </a:r>
            <a:r>
              <a:rPr lang="ru-RU" sz="2000" dirty="0" err="1"/>
              <a:t>завои</a:t>
            </a:r>
            <a:r>
              <a:rPr lang="ru-RU" sz="2000" dirty="0"/>
              <a:t>, </a:t>
            </a:r>
            <a:r>
              <a:rPr lang="ru-RU" sz="2000" dirty="0" err="1"/>
              <a:t>населени</a:t>
            </a:r>
            <a:r>
              <a:rPr lang="ru-RU" sz="2000" dirty="0"/>
              <a:t> места и ограничения. Важно е </a:t>
            </a:r>
            <a:r>
              <a:rPr lang="ru-RU" sz="2000" dirty="0" err="1"/>
              <a:t>водачът</a:t>
            </a:r>
            <a:r>
              <a:rPr lang="ru-RU" sz="2000" dirty="0"/>
              <a:t> да </a:t>
            </a:r>
            <a:r>
              <a:rPr lang="ru-RU" sz="2000" dirty="0" err="1"/>
              <a:t>ги</a:t>
            </a:r>
            <a:r>
              <a:rPr lang="ru-RU" sz="2000" dirty="0"/>
              <a:t> </a:t>
            </a:r>
            <a:r>
              <a:rPr lang="ru-RU" sz="2000" dirty="0" err="1"/>
              <a:t>познава</a:t>
            </a:r>
            <a:r>
              <a:rPr lang="ru-RU" sz="2000" dirty="0"/>
              <a:t> </a:t>
            </a:r>
            <a:r>
              <a:rPr lang="ru-RU" sz="2000" dirty="0" err="1"/>
              <a:t>предварително</a:t>
            </a:r>
            <a:r>
              <a:rPr lang="ru-RU" sz="2000" dirty="0"/>
              <a:t>, за да </a:t>
            </a:r>
            <a:r>
              <a:rPr lang="ru-RU" sz="2000" dirty="0" err="1"/>
              <a:t>пътува</a:t>
            </a:r>
            <a:r>
              <a:rPr lang="ru-RU" sz="2000" dirty="0"/>
              <a:t> безопасно.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A953-4541-B272-4BD3-32346CC2F84C}"/>
              </a:ext>
            </a:extLst>
          </p:cNvPr>
          <p:cNvSpPr txBox="1"/>
          <p:nvPr/>
        </p:nvSpPr>
        <p:spPr>
          <a:xfrm>
            <a:off x="408275" y="176843"/>
            <a:ext cx="10122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Карта на </a:t>
            </a:r>
            <a:r>
              <a:rPr lang="ru-RU" sz="3600" dirty="0" err="1"/>
              <a:t>пътищата</a:t>
            </a:r>
            <a:r>
              <a:rPr lang="ru-RU" sz="3600" dirty="0"/>
              <a:t> в </a:t>
            </a:r>
            <a:r>
              <a:rPr lang="ru-RU" sz="3600" dirty="0" err="1"/>
              <a:t>България</a:t>
            </a:r>
            <a:r>
              <a:rPr lang="ru-RU" sz="3600" dirty="0"/>
              <a:t> и </a:t>
            </a:r>
            <a:r>
              <a:rPr lang="ru-RU" sz="3600" dirty="0" err="1"/>
              <a:t>автомобилна</a:t>
            </a:r>
            <a:r>
              <a:rPr lang="ru-RU" sz="3600" dirty="0"/>
              <a:t> навигация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2052" name="Picture 4" descr="GPS, Карти, Гласова навигация – Приложения в Google Play">
            <a:extLst>
              <a:ext uri="{FF2B5EF4-FFF2-40B4-BE49-F238E27FC236}">
                <a16:creationId xmlns:a16="http://schemas.microsoft.com/office/drawing/2014/main" id="{F9A0847A-8954-26D6-EB0D-8EE189FAE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880" y="3962149"/>
            <a:ext cx="3672840" cy="182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13 удобни скрити трика за Google Maps на Android - Digitalen.bg">
            <a:extLst>
              <a:ext uri="{FF2B5EF4-FFF2-40B4-BE49-F238E27FC236}">
                <a16:creationId xmlns:a16="http://schemas.microsoft.com/office/drawing/2014/main" id="{794ADA21-BE38-8729-2CB3-32C1FA7FA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883" y="1709477"/>
            <a:ext cx="2837845" cy="18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28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54588-ACDA-78B4-4649-E5086F6F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EDDED-887D-696B-8C1A-F4CA67553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95" y="2191911"/>
            <a:ext cx="6943425" cy="4080832"/>
          </a:xfrm>
        </p:spPr>
        <p:txBody>
          <a:bodyPr>
            <a:noAutofit/>
          </a:bodyPr>
          <a:lstStyle/>
          <a:p>
            <a:r>
              <a:rPr lang="ru-RU" sz="2000" b="1" dirty="0" err="1"/>
              <a:t>Мотопед</a:t>
            </a:r>
            <a:br>
              <a:rPr lang="ru-RU" sz="2000" dirty="0"/>
            </a:br>
            <a:r>
              <a:rPr lang="ru-RU" sz="2000" dirty="0" err="1"/>
              <a:t>Мотопедът</a:t>
            </a:r>
            <a:r>
              <a:rPr lang="ru-RU" sz="2000" dirty="0"/>
              <a:t> е </a:t>
            </a:r>
            <a:r>
              <a:rPr lang="ru-RU" sz="2000" dirty="0" err="1"/>
              <a:t>малко</a:t>
            </a:r>
            <a:r>
              <a:rPr lang="ru-RU" sz="2000" dirty="0"/>
              <a:t> </a:t>
            </a:r>
            <a:r>
              <a:rPr lang="ru-RU" sz="2000" dirty="0" err="1"/>
              <a:t>моторно</a:t>
            </a:r>
            <a:r>
              <a:rPr lang="ru-RU" sz="2000" dirty="0"/>
              <a:t> </a:t>
            </a:r>
            <a:r>
              <a:rPr lang="ru-RU" sz="2000" dirty="0" err="1"/>
              <a:t>превозно</a:t>
            </a:r>
            <a:r>
              <a:rPr lang="ru-RU" sz="2000" dirty="0"/>
              <a:t> средство, </a:t>
            </a:r>
            <a:r>
              <a:rPr lang="ru-RU" sz="2000" dirty="0" err="1"/>
              <a:t>което</a:t>
            </a:r>
            <a:r>
              <a:rPr lang="ru-RU" sz="2000" dirty="0"/>
              <a:t> </a:t>
            </a:r>
            <a:r>
              <a:rPr lang="ru-RU" sz="2000" dirty="0" err="1"/>
              <a:t>обикновено</a:t>
            </a:r>
            <a:r>
              <a:rPr lang="ru-RU" sz="2000" dirty="0"/>
              <a:t> </a:t>
            </a:r>
            <a:r>
              <a:rPr lang="ru-RU" sz="2000" dirty="0" err="1"/>
              <a:t>има</a:t>
            </a:r>
            <a:r>
              <a:rPr lang="ru-RU" sz="2000" dirty="0"/>
              <a:t> </a:t>
            </a:r>
            <a:r>
              <a:rPr lang="ru-RU" sz="2000" dirty="0" err="1"/>
              <a:t>двигател</a:t>
            </a:r>
            <a:r>
              <a:rPr lang="ru-RU" sz="2000" dirty="0"/>
              <a:t> с малка </a:t>
            </a:r>
            <a:r>
              <a:rPr lang="ru-RU" sz="2000" dirty="0" err="1"/>
              <a:t>мощност</a:t>
            </a:r>
            <a:r>
              <a:rPr lang="ru-RU" sz="2000" dirty="0"/>
              <a:t> и се </a:t>
            </a:r>
            <a:r>
              <a:rPr lang="ru-RU" sz="2000" dirty="0" err="1"/>
              <a:t>използва</a:t>
            </a:r>
            <a:r>
              <a:rPr lang="ru-RU" sz="2000" dirty="0"/>
              <a:t> за кратки </a:t>
            </a:r>
            <a:r>
              <a:rPr lang="ru-RU" sz="2000" dirty="0" err="1"/>
              <a:t>разстояния</a:t>
            </a:r>
            <a:r>
              <a:rPr lang="ru-RU" sz="2000" dirty="0"/>
              <a:t>. Той </a:t>
            </a:r>
            <a:r>
              <a:rPr lang="ru-RU" sz="2000" dirty="0" err="1"/>
              <a:t>може</a:t>
            </a:r>
            <a:r>
              <a:rPr lang="ru-RU" sz="2000" dirty="0"/>
              <a:t> да се </a:t>
            </a:r>
            <a:r>
              <a:rPr lang="ru-RU" sz="2000" dirty="0" err="1"/>
              <a:t>управлява</a:t>
            </a:r>
            <a:r>
              <a:rPr lang="ru-RU" sz="2000" dirty="0"/>
              <a:t> </a:t>
            </a:r>
            <a:r>
              <a:rPr lang="ru-RU" sz="2000" dirty="0" err="1"/>
              <a:t>лесно</a:t>
            </a:r>
            <a:r>
              <a:rPr lang="ru-RU" sz="2000" dirty="0"/>
              <a:t> и е </a:t>
            </a:r>
            <a:r>
              <a:rPr lang="ru-RU" sz="2000" dirty="0" err="1"/>
              <a:t>подходящ</a:t>
            </a:r>
            <a:r>
              <a:rPr lang="ru-RU" sz="2000" dirty="0"/>
              <a:t> за </a:t>
            </a:r>
            <a:r>
              <a:rPr lang="ru-RU" sz="2000" dirty="0" err="1"/>
              <a:t>градско</a:t>
            </a:r>
            <a:r>
              <a:rPr lang="ru-RU" sz="2000" dirty="0"/>
              <a:t> движение.</a:t>
            </a:r>
          </a:p>
          <a:p>
            <a:r>
              <a:rPr lang="ru-RU" sz="2000" b="1" dirty="0" err="1"/>
              <a:t>Двутактов</a:t>
            </a:r>
            <a:r>
              <a:rPr lang="ru-RU" sz="2000" b="1" dirty="0"/>
              <a:t> </a:t>
            </a:r>
            <a:r>
              <a:rPr lang="ru-RU" sz="2000" b="1" dirty="0" err="1"/>
              <a:t>двигател</a:t>
            </a:r>
            <a:r>
              <a:rPr lang="ru-RU" sz="2000" b="1" dirty="0"/>
              <a:t> – устройство</a:t>
            </a:r>
            <a:br>
              <a:rPr lang="ru-RU" sz="2000" dirty="0"/>
            </a:br>
            <a:r>
              <a:rPr lang="ru-RU" sz="2000" dirty="0" err="1"/>
              <a:t>Двутактовият</a:t>
            </a:r>
            <a:r>
              <a:rPr lang="ru-RU" sz="2000" dirty="0"/>
              <a:t> </a:t>
            </a:r>
            <a:r>
              <a:rPr lang="ru-RU" sz="2000" dirty="0" err="1"/>
              <a:t>двигател</a:t>
            </a:r>
            <a:r>
              <a:rPr lang="ru-RU" sz="2000" dirty="0"/>
              <a:t> </a:t>
            </a:r>
            <a:r>
              <a:rPr lang="ru-RU" sz="2000" dirty="0" err="1"/>
              <a:t>има</a:t>
            </a:r>
            <a:r>
              <a:rPr lang="ru-RU" sz="2000" dirty="0"/>
              <a:t> </a:t>
            </a:r>
            <a:r>
              <a:rPr lang="ru-RU" sz="2000" dirty="0" err="1"/>
              <a:t>основни</a:t>
            </a:r>
            <a:r>
              <a:rPr lang="ru-RU" sz="2000" dirty="0"/>
              <a:t> части </a:t>
            </a:r>
            <a:r>
              <a:rPr lang="ru-RU" sz="2000" dirty="0" err="1"/>
              <a:t>като</a:t>
            </a:r>
            <a:r>
              <a:rPr lang="ru-RU" sz="2000" dirty="0"/>
              <a:t> </a:t>
            </a:r>
            <a:r>
              <a:rPr lang="ru-RU" sz="2000" dirty="0" err="1"/>
              <a:t>цилиндър</a:t>
            </a:r>
            <a:r>
              <a:rPr lang="ru-RU" sz="2000" dirty="0"/>
              <a:t>, </a:t>
            </a:r>
            <a:r>
              <a:rPr lang="ru-RU" sz="2000" dirty="0" err="1"/>
              <a:t>бутало</a:t>
            </a:r>
            <a:r>
              <a:rPr lang="ru-RU" sz="2000" dirty="0"/>
              <a:t>, </a:t>
            </a:r>
            <a:r>
              <a:rPr lang="ru-RU" sz="2000" dirty="0" err="1"/>
              <a:t>свещ</a:t>
            </a:r>
            <a:r>
              <a:rPr lang="ru-RU" sz="2000" dirty="0"/>
              <a:t>, </a:t>
            </a:r>
            <a:r>
              <a:rPr lang="ru-RU" sz="2000" dirty="0" err="1"/>
              <a:t>карбуратор</a:t>
            </a:r>
            <a:r>
              <a:rPr lang="ru-RU" sz="2000" dirty="0"/>
              <a:t> и </a:t>
            </a:r>
            <a:r>
              <a:rPr lang="ru-RU" sz="2000" dirty="0" err="1"/>
              <a:t>колянов</a:t>
            </a:r>
            <a:r>
              <a:rPr lang="ru-RU" sz="2000" dirty="0"/>
              <a:t> вал. Той е </a:t>
            </a:r>
            <a:r>
              <a:rPr lang="ru-RU" sz="2000" dirty="0" err="1"/>
              <a:t>по-прост</a:t>
            </a:r>
            <a:r>
              <a:rPr lang="ru-RU" sz="2000" dirty="0"/>
              <a:t> по конструкция от </a:t>
            </a:r>
            <a:r>
              <a:rPr lang="ru-RU" sz="2000" dirty="0" err="1"/>
              <a:t>четиритактовия</a:t>
            </a:r>
            <a:r>
              <a:rPr lang="ru-RU" sz="2000" dirty="0"/>
              <a:t> </a:t>
            </a:r>
            <a:r>
              <a:rPr lang="ru-RU" sz="2000" dirty="0" err="1"/>
              <a:t>двигател</a:t>
            </a:r>
            <a:r>
              <a:rPr lang="ru-RU" sz="2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E7E34-1604-8F6D-D6F8-5FEFDD02C1A0}"/>
              </a:ext>
            </a:extLst>
          </p:cNvPr>
          <p:cNvSpPr txBox="1"/>
          <p:nvPr/>
        </p:nvSpPr>
        <p:spPr>
          <a:xfrm>
            <a:off x="3289841" y="585257"/>
            <a:ext cx="5019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Мотопед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3074" name="Picture 2" descr="Електрически Мотопед Segway ᐉ E125S Черен - elmotiv.bg">
            <a:extLst>
              <a:ext uri="{FF2B5EF4-FFF2-40B4-BE49-F238E27FC236}">
                <a16:creationId xmlns:a16="http://schemas.microsoft.com/office/drawing/2014/main" id="{7C90AF4A-7E13-60DD-BCBC-707B412AA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080" y="1706881"/>
            <a:ext cx="2103120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СЪРЦЕТО НА МОТОЦИКЛЕТА: 2-ТАКТОВ ИЛИ 4-ТАКТОВ ДВИГАТЕЛ">
            <a:extLst>
              <a:ext uri="{FF2B5EF4-FFF2-40B4-BE49-F238E27FC236}">
                <a16:creationId xmlns:a16="http://schemas.microsoft.com/office/drawing/2014/main" id="{AD985B60-09EB-5D34-C768-7B0EB44B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637" y="4099559"/>
            <a:ext cx="3136005" cy="232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19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54588-ACDA-78B4-4649-E5086F6F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EDDED-887D-696B-8C1A-F4CA67553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975" y="2646259"/>
            <a:ext cx="5861385" cy="2404432"/>
          </a:xfrm>
        </p:spPr>
        <p:txBody>
          <a:bodyPr>
            <a:noAutofit/>
          </a:bodyPr>
          <a:lstStyle/>
          <a:p>
            <a:r>
              <a:rPr lang="ru-RU" sz="2000" b="1" dirty="0"/>
              <a:t>Действие на </a:t>
            </a:r>
            <a:r>
              <a:rPr lang="ru-RU" sz="2000" b="1" dirty="0" err="1"/>
              <a:t>двутактов</a:t>
            </a:r>
            <a:r>
              <a:rPr lang="ru-RU" sz="2000" b="1" dirty="0"/>
              <a:t> </a:t>
            </a:r>
            <a:r>
              <a:rPr lang="ru-RU" sz="2000" b="1" dirty="0" err="1"/>
              <a:t>двигател</a:t>
            </a:r>
            <a:br>
              <a:rPr lang="ru-RU" sz="2000" dirty="0"/>
            </a:br>
            <a:r>
              <a:rPr lang="ru-RU" sz="2000" dirty="0"/>
              <a:t>При </a:t>
            </a:r>
            <a:r>
              <a:rPr lang="ru-RU" sz="2000" dirty="0" err="1"/>
              <a:t>първия</a:t>
            </a:r>
            <a:r>
              <a:rPr lang="ru-RU" sz="2000" dirty="0"/>
              <a:t> такт се </a:t>
            </a:r>
            <a:r>
              <a:rPr lang="ru-RU" sz="2000" dirty="0" err="1"/>
              <a:t>извършва</a:t>
            </a:r>
            <a:r>
              <a:rPr lang="ru-RU" sz="2000" dirty="0"/>
              <a:t> </a:t>
            </a:r>
            <a:r>
              <a:rPr lang="ru-RU" sz="2000" dirty="0" err="1"/>
              <a:t>засмукване</a:t>
            </a:r>
            <a:r>
              <a:rPr lang="ru-RU" sz="2000" dirty="0"/>
              <a:t> и </a:t>
            </a:r>
            <a:r>
              <a:rPr lang="ru-RU" sz="2000" dirty="0" err="1"/>
              <a:t>сгъстяване</a:t>
            </a:r>
            <a:r>
              <a:rPr lang="ru-RU" sz="2000" dirty="0"/>
              <a:t> на </a:t>
            </a:r>
            <a:r>
              <a:rPr lang="ru-RU" sz="2000" dirty="0" err="1"/>
              <a:t>горивната</a:t>
            </a:r>
            <a:r>
              <a:rPr lang="ru-RU" sz="2000" dirty="0"/>
              <a:t> </a:t>
            </a:r>
            <a:r>
              <a:rPr lang="ru-RU" sz="2000" dirty="0" err="1"/>
              <a:t>смес</a:t>
            </a:r>
            <a:r>
              <a:rPr lang="ru-RU" sz="2000" dirty="0"/>
              <a:t>. При </a:t>
            </a:r>
            <a:r>
              <a:rPr lang="ru-RU" sz="2000" dirty="0" err="1"/>
              <a:t>втория</a:t>
            </a:r>
            <a:r>
              <a:rPr lang="ru-RU" sz="2000" dirty="0"/>
              <a:t> такт става </a:t>
            </a:r>
            <a:r>
              <a:rPr lang="ru-RU" sz="2000" dirty="0" err="1"/>
              <a:t>работният</a:t>
            </a:r>
            <a:r>
              <a:rPr lang="ru-RU" sz="2000" dirty="0"/>
              <a:t> ход и </a:t>
            </a:r>
            <a:r>
              <a:rPr lang="ru-RU" sz="2000" dirty="0" err="1"/>
              <a:t>изхвърляне</a:t>
            </a:r>
            <a:r>
              <a:rPr lang="ru-RU" sz="2000" dirty="0"/>
              <a:t> на </a:t>
            </a:r>
            <a:r>
              <a:rPr lang="ru-RU" sz="2000" dirty="0" err="1"/>
              <a:t>изгорелите</a:t>
            </a:r>
            <a:r>
              <a:rPr lang="ru-RU" sz="2000" dirty="0"/>
              <a:t> </a:t>
            </a:r>
            <a:r>
              <a:rPr lang="ru-RU" sz="2000" dirty="0" err="1"/>
              <a:t>газове</a:t>
            </a:r>
            <a:r>
              <a:rPr lang="ru-RU" sz="2000" dirty="0"/>
              <a:t>. </a:t>
            </a:r>
            <a:r>
              <a:rPr lang="ru-RU" sz="2000" dirty="0" err="1"/>
              <a:t>Всеки</a:t>
            </a:r>
            <a:r>
              <a:rPr lang="ru-RU" sz="2000" dirty="0"/>
              <a:t> </a:t>
            </a:r>
            <a:r>
              <a:rPr lang="ru-RU" sz="2000" dirty="0" err="1"/>
              <a:t>пълен</a:t>
            </a:r>
            <a:r>
              <a:rPr lang="ru-RU" sz="2000" dirty="0"/>
              <a:t> </a:t>
            </a:r>
            <a:r>
              <a:rPr lang="ru-RU" sz="2000" dirty="0" err="1"/>
              <a:t>цикъл</a:t>
            </a:r>
            <a:r>
              <a:rPr lang="ru-RU" sz="2000" dirty="0"/>
              <a:t> се </a:t>
            </a:r>
            <a:r>
              <a:rPr lang="ru-RU" sz="2000" dirty="0" err="1"/>
              <a:t>извършва</a:t>
            </a:r>
            <a:r>
              <a:rPr lang="ru-RU" sz="2000" dirty="0"/>
              <a:t> за два хода на </a:t>
            </a:r>
            <a:r>
              <a:rPr lang="ru-RU" sz="2000" dirty="0" err="1"/>
              <a:t>буталото</a:t>
            </a:r>
            <a:r>
              <a:rPr lang="ru-RU" sz="2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E7E34-1604-8F6D-D6F8-5FEFDD02C1A0}"/>
              </a:ext>
            </a:extLst>
          </p:cNvPr>
          <p:cNvSpPr txBox="1"/>
          <p:nvPr/>
        </p:nvSpPr>
        <p:spPr>
          <a:xfrm>
            <a:off x="3289841" y="585257"/>
            <a:ext cx="5019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Мотопед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4098" name="Picture 2" descr="Двутактов двигател – Уикипедия">
            <a:extLst>
              <a:ext uri="{FF2B5EF4-FFF2-40B4-BE49-F238E27FC236}">
                <a16:creationId xmlns:a16="http://schemas.microsoft.com/office/drawing/2014/main" id="{DF43B3F7-8CC5-5E4E-EE12-5746E1E4B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508" y="1521538"/>
            <a:ext cx="2675572" cy="4653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30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8884F-9923-652F-3C31-B97C6FE3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D274-F315-25B5-4929-4B38D0961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830" y="2906648"/>
            <a:ext cx="6512050" cy="2325094"/>
          </a:xfrm>
        </p:spPr>
        <p:txBody>
          <a:bodyPr>
            <a:noAutofit/>
          </a:bodyPr>
          <a:lstStyle/>
          <a:p>
            <a:r>
              <a:rPr lang="ru-RU" sz="2000" b="1" dirty="0" err="1"/>
              <a:t>Пътни</a:t>
            </a:r>
            <a:r>
              <a:rPr lang="ru-RU" sz="2000" b="1" dirty="0"/>
              <a:t> </a:t>
            </a:r>
            <a:r>
              <a:rPr lang="ru-RU" sz="2000" b="1" dirty="0" err="1"/>
              <a:t>знаци</a:t>
            </a:r>
            <a:r>
              <a:rPr lang="ru-RU" sz="2000" b="1" dirty="0"/>
              <a:t> за </a:t>
            </a:r>
            <a:r>
              <a:rPr lang="ru-RU" sz="2000" b="1" dirty="0" err="1"/>
              <a:t>указване</a:t>
            </a:r>
            <a:r>
              <a:rPr lang="ru-RU" sz="2000" b="1" dirty="0"/>
              <a:t> на направления, </a:t>
            </a:r>
            <a:r>
              <a:rPr lang="ru-RU" sz="2000" b="1" dirty="0" err="1"/>
              <a:t>посоки</a:t>
            </a:r>
            <a:r>
              <a:rPr lang="ru-RU" sz="2000" b="1" dirty="0"/>
              <a:t>, </a:t>
            </a:r>
            <a:r>
              <a:rPr lang="ru-RU" sz="2000" b="1" dirty="0" err="1"/>
              <a:t>обекти</a:t>
            </a:r>
            <a:r>
              <a:rPr lang="ru-RU" sz="2000" b="1" dirty="0"/>
              <a:t> и др.</a:t>
            </a:r>
            <a:br>
              <a:rPr lang="ru-RU" sz="2000" dirty="0"/>
            </a:br>
            <a:r>
              <a:rPr lang="ru-RU" sz="2000" dirty="0" err="1"/>
              <a:t>Показват</a:t>
            </a:r>
            <a:r>
              <a:rPr lang="ru-RU" sz="2000" dirty="0"/>
              <a:t> </a:t>
            </a:r>
            <a:r>
              <a:rPr lang="ru-RU" sz="2000" dirty="0" err="1"/>
              <a:t>посоката</a:t>
            </a:r>
            <a:r>
              <a:rPr lang="ru-RU" sz="2000" dirty="0"/>
              <a:t> </a:t>
            </a:r>
            <a:r>
              <a:rPr lang="ru-RU" sz="2000" dirty="0" err="1"/>
              <a:t>към</a:t>
            </a:r>
            <a:r>
              <a:rPr lang="ru-RU" sz="2000" dirty="0"/>
              <a:t> </a:t>
            </a:r>
            <a:r>
              <a:rPr lang="ru-RU" sz="2000" dirty="0" err="1"/>
              <a:t>населени</a:t>
            </a:r>
            <a:r>
              <a:rPr lang="ru-RU" sz="2000" dirty="0"/>
              <a:t> места, </a:t>
            </a:r>
            <a:r>
              <a:rPr lang="ru-RU" sz="2000" dirty="0" err="1"/>
              <a:t>улици</a:t>
            </a:r>
            <a:r>
              <a:rPr lang="ru-RU" sz="2000" dirty="0"/>
              <a:t>, </a:t>
            </a:r>
            <a:r>
              <a:rPr lang="ru-RU" sz="2000" dirty="0" err="1"/>
              <a:t>пътища</a:t>
            </a:r>
            <a:r>
              <a:rPr lang="ru-RU" sz="2000" dirty="0"/>
              <a:t> и важни </a:t>
            </a:r>
            <a:r>
              <a:rPr lang="ru-RU" sz="2000" dirty="0" err="1"/>
              <a:t>обекти</a:t>
            </a:r>
            <a:r>
              <a:rPr lang="ru-RU" sz="2000" dirty="0"/>
              <a:t> </a:t>
            </a:r>
            <a:r>
              <a:rPr lang="ru-RU" sz="2000" dirty="0" err="1"/>
              <a:t>като</a:t>
            </a:r>
            <a:r>
              <a:rPr lang="ru-RU" sz="2000" dirty="0"/>
              <a:t> </a:t>
            </a:r>
            <a:r>
              <a:rPr lang="ru-RU" sz="2000" dirty="0" err="1"/>
              <a:t>болници</a:t>
            </a:r>
            <a:r>
              <a:rPr lang="ru-RU" sz="2000" dirty="0"/>
              <a:t>, хотели и </a:t>
            </a:r>
            <a:r>
              <a:rPr lang="ru-RU" sz="2000" dirty="0" err="1"/>
              <a:t>бензиностанции</a:t>
            </a:r>
            <a:r>
              <a:rPr lang="ru-RU" sz="2000" dirty="0"/>
              <a:t>. Те </a:t>
            </a:r>
            <a:r>
              <a:rPr lang="ru-RU" sz="2000" dirty="0" err="1"/>
              <a:t>помагат</a:t>
            </a:r>
            <a:r>
              <a:rPr lang="ru-RU" sz="2000" dirty="0"/>
              <a:t> на </a:t>
            </a:r>
            <a:r>
              <a:rPr lang="ru-RU" sz="2000" dirty="0" err="1"/>
              <a:t>водачите</a:t>
            </a:r>
            <a:r>
              <a:rPr lang="ru-RU" sz="2000" dirty="0"/>
              <a:t> да се </a:t>
            </a:r>
            <a:r>
              <a:rPr lang="ru-RU" sz="2000" dirty="0" err="1"/>
              <a:t>ориентират</a:t>
            </a:r>
            <a:r>
              <a:rPr lang="ru-RU" sz="2000" dirty="0"/>
              <a:t> по маршрута.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49EFD-FA1E-4504-E340-3E693768517A}"/>
              </a:ext>
            </a:extLst>
          </p:cNvPr>
          <p:cNvSpPr txBox="1"/>
          <p:nvPr/>
        </p:nvSpPr>
        <p:spPr>
          <a:xfrm>
            <a:off x="1765555" y="237763"/>
            <a:ext cx="8660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err="1"/>
              <a:t>Пътни</a:t>
            </a:r>
            <a:r>
              <a:rPr lang="ru-RU" sz="3600" dirty="0"/>
              <a:t> </a:t>
            </a:r>
            <a:r>
              <a:rPr lang="ru-RU" sz="3600" dirty="0" err="1"/>
              <a:t>знаци</a:t>
            </a:r>
            <a:r>
              <a:rPr lang="ru-RU" sz="3600" dirty="0"/>
              <a:t> за </a:t>
            </a:r>
            <a:r>
              <a:rPr lang="ru-RU" sz="3600" dirty="0" err="1"/>
              <a:t>оказване</a:t>
            </a:r>
            <a:r>
              <a:rPr lang="ru-RU" sz="3600" dirty="0"/>
              <a:t> на направления, </a:t>
            </a:r>
            <a:r>
              <a:rPr lang="ru-RU" sz="3600" dirty="0" err="1"/>
              <a:t>посоки</a:t>
            </a:r>
            <a:r>
              <a:rPr lang="ru-RU" sz="3600" dirty="0"/>
              <a:t>, </a:t>
            </a:r>
            <a:r>
              <a:rPr lang="ru-RU" sz="3600" dirty="0" err="1"/>
              <a:t>обекти</a:t>
            </a:r>
            <a:r>
              <a:rPr lang="ru-RU" sz="3600" dirty="0"/>
              <a:t> и др., </a:t>
            </a:r>
            <a:r>
              <a:rPr lang="ru-RU" sz="3600" dirty="0" err="1"/>
              <a:t>допълнителни</a:t>
            </a:r>
            <a:r>
              <a:rPr lang="ru-RU" sz="3600" dirty="0"/>
              <a:t> табели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5122" name="Picture 2" descr="Карат Перфект Контакти">
            <a:extLst>
              <a:ext uri="{FF2B5EF4-FFF2-40B4-BE49-F238E27FC236}">
                <a16:creationId xmlns:a16="http://schemas.microsoft.com/office/drawing/2014/main" id="{02A53AFE-5925-6094-103B-491A5B5FF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984" y="2292626"/>
            <a:ext cx="2939415" cy="355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88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8884F-9923-652F-3C31-B97C6FE3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D274-F315-25B5-4929-4B38D0961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10" y="2719346"/>
            <a:ext cx="6527290" cy="1883134"/>
          </a:xfrm>
        </p:spPr>
        <p:txBody>
          <a:bodyPr>
            <a:noAutofit/>
          </a:bodyPr>
          <a:lstStyle/>
          <a:p>
            <a:r>
              <a:rPr lang="ru-RU" sz="2000" b="1" dirty="0" err="1"/>
              <a:t>Допълнителни</a:t>
            </a:r>
            <a:r>
              <a:rPr lang="ru-RU" sz="2000" b="1" dirty="0"/>
              <a:t> табели</a:t>
            </a:r>
            <a:br>
              <a:rPr lang="ru-RU" sz="2000" dirty="0"/>
            </a:br>
            <a:r>
              <a:rPr lang="ru-RU" sz="2000" dirty="0" err="1"/>
              <a:t>Дават</a:t>
            </a:r>
            <a:r>
              <a:rPr lang="ru-RU" sz="2000" dirty="0"/>
              <a:t> </a:t>
            </a:r>
            <a:r>
              <a:rPr lang="ru-RU" sz="2000" dirty="0" err="1"/>
              <a:t>уточняваща</a:t>
            </a:r>
            <a:r>
              <a:rPr lang="ru-RU" sz="2000" dirty="0"/>
              <a:t> информация </a:t>
            </a:r>
            <a:r>
              <a:rPr lang="ru-RU" sz="2000" dirty="0" err="1"/>
              <a:t>към</a:t>
            </a:r>
            <a:r>
              <a:rPr lang="ru-RU" sz="2000" dirty="0"/>
              <a:t> </a:t>
            </a:r>
            <a:r>
              <a:rPr lang="ru-RU" sz="2000" dirty="0" err="1"/>
              <a:t>основния</a:t>
            </a:r>
            <a:r>
              <a:rPr lang="ru-RU" sz="2000" dirty="0"/>
              <a:t> </a:t>
            </a:r>
            <a:r>
              <a:rPr lang="ru-RU" sz="2000" dirty="0" err="1"/>
              <a:t>пътен</a:t>
            </a:r>
            <a:r>
              <a:rPr lang="ru-RU" sz="2000" dirty="0"/>
              <a:t> знак, например </a:t>
            </a:r>
            <a:r>
              <a:rPr lang="ru-RU" sz="2000" dirty="0" err="1"/>
              <a:t>разстояние</a:t>
            </a:r>
            <a:r>
              <a:rPr lang="ru-RU" sz="2000" dirty="0"/>
              <a:t>, </a:t>
            </a:r>
            <a:r>
              <a:rPr lang="ru-RU" sz="2000" dirty="0" err="1"/>
              <a:t>време</a:t>
            </a:r>
            <a:r>
              <a:rPr lang="ru-RU" sz="2000" dirty="0"/>
              <a:t>, действие или </a:t>
            </a:r>
            <a:r>
              <a:rPr lang="ru-RU" sz="2000" dirty="0" err="1"/>
              <a:t>участък</a:t>
            </a:r>
            <a:r>
              <a:rPr lang="ru-RU" sz="2000" dirty="0"/>
              <a:t>, за </a:t>
            </a:r>
            <a:r>
              <a:rPr lang="ru-RU" sz="2000" dirty="0" err="1"/>
              <a:t>който</a:t>
            </a:r>
            <a:r>
              <a:rPr lang="ru-RU" sz="2000" dirty="0"/>
              <a:t> </a:t>
            </a:r>
            <a:r>
              <a:rPr lang="ru-RU" sz="2000" dirty="0" err="1"/>
              <a:t>важи</a:t>
            </a:r>
            <a:r>
              <a:rPr lang="ru-RU" sz="2000" dirty="0"/>
              <a:t> </a:t>
            </a:r>
            <a:r>
              <a:rPr lang="ru-RU" sz="2000" dirty="0" err="1"/>
              <a:t>знакът</a:t>
            </a:r>
            <a:r>
              <a:rPr lang="ru-RU" sz="2000" dirty="0"/>
              <a:t>. Те се поставят под </a:t>
            </a:r>
            <a:r>
              <a:rPr lang="ru-RU" sz="2000" dirty="0" err="1"/>
              <a:t>основния</a:t>
            </a:r>
            <a:r>
              <a:rPr lang="ru-RU" sz="2000" dirty="0"/>
              <a:t> знак и го </a:t>
            </a:r>
            <a:r>
              <a:rPr lang="ru-RU" sz="2000" dirty="0" err="1"/>
              <a:t>поясняват</a:t>
            </a:r>
            <a:r>
              <a:rPr lang="ru-RU" sz="2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49EFD-FA1E-4504-E340-3E693768517A}"/>
              </a:ext>
            </a:extLst>
          </p:cNvPr>
          <p:cNvSpPr txBox="1"/>
          <p:nvPr/>
        </p:nvSpPr>
        <p:spPr>
          <a:xfrm>
            <a:off x="1765555" y="237763"/>
            <a:ext cx="8660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err="1"/>
              <a:t>Пътни</a:t>
            </a:r>
            <a:r>
              <a:rPr lang="ru-RU" sz="3600" dirty="0"/>
              <a:t> </a:t>
            </a:r>
            <a:r>
              <a:rPr lang="ru-RU" sz="3600" dirty="0" err="1"/>
              <a:t>знаци</a:t>
            </a:r>
            <a:r>
              <a:rPr lang="ru-RU" sz="3600" dirty="0"/>
              <a:t> за </a:t>
            </a:r>
            <a:r>
              <a:rPr lang="ru-RU" sz="3600" dirty="0" err="1"/>
              <a:t>оказване</a:t>
            </a:r>
            <a:r>
              <a:rPr lang="ru-RU" sz="3600" dirty="0"/>
              <a:t> на направления, </a:t>
            </a:r>
            <a:r>
              <a:rPr lang="ru-RU" sz="3600" dirty="0" err="1"/>
              <a:t>посоки</a:t>
            </a:r>
            <a:r>
              <a:rPr lang="ru-RU" sz="3600" dirty="0"/>
              <a:t>, </a:t>
            </a:r>
            <a:r>
              <a:rPr lang="ru-RU" sz="3600" dirty="0" err="1"/>
              <a:t>обекти</a:t>
            </a:r>
            <a:r>
              <a:rPr lang="ru-RU" sz="3600" dirty="0"/>
              <a:t> и др., </a:t>
            </a:r>
            <a:r>
              <a:rPr lang="ru-RU" sz="3600" dirty="0" err="1"/>
              <a:t>допълнителни</a:t>
            </a:r>
            <a:r>
              <a:rPr lang="ru-RU" sz="3600" dirty="0"/>
              <a:t> табели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6146" name="Picture 2" descr="Карат Перфект Контакти">
            <a:extLst>
              <a:ext uri="{FF2B5EF4-FFF2-40B4-BE49-F238E27FC236}">
                <a16:creationId xmlns:a16="http://schemas.microsoft.com/office/drawing/2014/main" id="{01EEF3E0-369A-2C49-6A07-1875D907C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628" y="2712637"/>
            <a:ext cx="3587042" cy="235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74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93991-A557-73CB-2BBD-6DEB7F8A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247E-4C16-391A-DC2E-E003E9394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" y="2051765"/>
            <a:ext cx="6690360" cy="3876595"/>
          </a:xfrm>
        </p:spPr>
        <p:txBody>
          <a:bodyPr>
            <a:noAutofit/>
          </a:bodyPr>
          <a:lstStyle/>
          <a:p>
            <a:r>
              <a:rPr lang="ru-RU" b="1" dirty="0" err="1"/>
              <a:t>Пътнотранспортно</a:t>
            </a:r>
            <a:r>
              <a:rPr lang="ru-RU" b="1" dirty="0"/>
              <a:t> </a:t>
            </a:r>
            <a:r>
              <a:rPr lang="ru-RU" b="1" dirty="0" err="1"/>
              <a:t>произшествие</a:t>
            </a:r>
            <a:r>
              <a:rPr lang="ru-RU" b="1" dirty="0"/>
              <a:t> (ПТП)</a:t>
            </a:r>
            <a:br>
              <a:rPr lang="ru-RU" dirty="0"/>
            </a:br>
            <a:r>
              <a:rPr lang="ru-RU" dirty="0"/>
              <a:t>ПТП е </a:t>
            </a:r>
            <a:r>
              <a:rPr lang="ru-RU" dirty="0" err="1"/>
              <a:t>събитие</a:t>
            </a:r>
            <a:r>
              <a:rPr lang="ru-RU" dirty="0"/>
              <a:t> на </a:t>
            </a:r>
            <a:r>
              <a:rPr lang="ru-RU" dirty="0" err="1"/>
              <a:t>пътя</a:t>
            </a:r>
            <a:r>
              <a:rPr lang="ru-RU" dirty="0"/>
              <a:t>, при </a:t>
            </a:r>
            <a:r>
              <a:rPr lang="ru-RU" dirty="0" err="1"/>
              <a:t>което</a:t>
            </a:r>
            <a:r>
              <a:rPr lang="ru-RU" dirty="0"/>
              <a:t> вследствие на движение на </a:t>
            </a:r>
            <a:r>
              <a:rPr lang="ru-RU" dirty="0" err="1"/>
              <a:t>превозно</a:t>
            </a:r>
            <a:r>
              <a:rPr lang="ru-RU" dirty="0"/>
              <a:t> средство </a:t>
            </a:r>
            <a:r>
              <a:rPr lang="ru-RU" dirty="0" err="1"/>
              <a:t>има</a:t>
            </a:r>
            <a:r>
              <a:rPr lang="ru-RU" dirty="0"/>
              <a:t> </a:t>
            </a:r>
            <a:r>
              <a:rPr lang="ru-RU" dirty="0" err="1"/>
              <a:t>щети</a:t>
            </a:r>
            <a:r>
              <a:rPr lang="ru-RU" dirty="0"/>
              <a:t>, </a:t>
            </a:r>
            <a:r>
              <a:rPr lang="ru-RU" dirty="0" err="1"/>
              <a:t>наранявания</a:t>
            </a:r>
            <a:r>
              <a:rPr lang="ru-RU" dirty="0"/>
              <a:t> или </a:t>
            </a:r>
            <a:r>
              <a:rPr lang="ru-RU" dirty="0" err="1"/>
              <a:t>загуба</a:t>
            </a:r>
            <a:r>
              <a:rPr lang="ru-RU" dirty="0"/>
              <a:t> на </a:t>
            </a:r>
            <a:r>
              <a:rPr lang="ru-RU" dirty="0" err="1"/>
              <a:t>човешки</a:t>
            </a:r>
            <a:r>
              <a:rPr lang="ru-RU" dirty="0"/>
              <a:t> живот. То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бъде</a:t>
            </a:r>
            <a:r>
              <a:rPr lang="ru-RU" dirty="0"/>
              <a:t> с участие на </a:t>
            </a:r>
            <a:r>
              <a:rPr lang="ru-RU" dirty="0" err="1"/>
              <a:t>едно</a:t>
            </a:r>
            <a:r>
              <a:rPr lang="ru-RU" dirty="0"/>
              <a:t> или </a:t>
            </a:r>
            <a:r>
              <a:rPr lang="ru-RU" dirty="0" err="1"/>
              <a:t>повече</a:t>
            </a:r>
            <a:r>
              <a:rPr lang="ru-RU" dirty="0"/>
              <a:t> </a:t>
            </a:r>
            <a:r>
              <a:rPr lang="ru-RU" dirty="0" err="1"/>
              <a:t>превозни</a:t>
            </a:r>
            <a:r>
              <a:rPr lang="ru-RU" dirty="0"/>
              <a:t> средства.</a:t>
            </a:r>
          </a:p>
          <a:p>
            <a:r>
              <a:rPr lang="ru-RU" b="1" dirty="0" err="1"/>
              <a:t>Защо</a:t>
            </a:r>
            <a:r>
              <a:rPr lang="ru-RU" b="1" dirty="0"/>
              <a:t> </a:t>
            </a:r>
            <a:r>
              <a:rPr lang="ru-RU" b="1" dirty="0" err="1"/>
              <a:t>скоростта</a:t>
            </a:r>
            <a:r>
              <a:rPr lang="ru-RU" b="1" dirty="0"/>
              <a:t> е </a:t>
            </a:r>
            <a:r>
              <a:rPr lang="ru-RU" b="1" dirty="0" err="1"/>
              <a:t>честа</a:t>
            </a:r>
            <a:r>
              <a:rPr lang="ru-RU" b="1" dirty="0"/>
              <a:t> причина за ПТП</a:t>
            </a:r>
            <a:br>
              <a:rPr lang="ru-RU" dirty="0"/>
            </a:br>
            <a:r>
              <a:rPr lang="ru-RU" dirty="0" err="1"/>
              <a:t>Високата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 </a:t>
            </a:r>
            <a:r>
              <a:rPr lang="ru-RU" dirty="0" err="1"/>
              <a:t>намалява</a:t>
            </a:r>
            <a:r>
              <a:rPr lang="ru-RU" dirty="0"/>
              <a:t> </a:t>
            </a:r>
            <a:r>
              <a:rPr lang="ru-RU" dirty="0" err="1"/>
              <a:t>времето</a:t>
            </a:r>
            <a:r>
              <a:rPr lang="ru-RU" dirty="0"/>
              <a:t> за реакция и </a:t>
            </a:r>
            <a:r>
              <a:rPr lang="ru-RU" dirty="0" err="1"/>
              <a:t>увеличава</a:t>
            </a:r>
            <a:r>
              <a:rPr lang="ru-RU" dirty="0"/>
              <a:t> </a:t>
            </a:r>
            <a:r>
              <a:rPr lang="ru-RU" dirty="0" err="1"/>
              <a:t>спирачния</a:t>
            </a:r>
            <a:r>
              <a:rPr lang="ru-RU" dirty="0"/>
              <a:t> </a:t>
            </a:r>
            <a:r>
              <a:rPr lang="ru-RU" dirty="0" err="1"/>
              <a:t>път</a:t>
            </a:r>
            <a:r>
              <a:rPr lang="ru-RU" dirty="0"/>
              <a:t>. При </a:t>
            </a:r>
            <a:r>
              <a:rPr lang="ru-RU" dirty="0" err="1"/>
              <a:t>по-висока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 </a:t>
            </a:r>
            <a:r>
              <a:rPr lang="ru-RU" dirty="0" err="1"/>
              <a:t>водачът</a:t>
            </a:r>
            <a:r>
              <a:rPr lang="ru-RU" dirty="0"/>
              <a:t> </a:t>
            </a:r>
            <a:r>
              <a:rPr lang="ru-RU" dirty="0" err="1"/>
              <a:t>по-трудно</a:t>
            </a:r>
            <a:r>
              <a:rPr lang="ru-RU" dirty="0"/>
              <a:t> </a:t>
            </a:r>
            <a:r>
              <a:rPr lang="ru-RU" dirty="0" err="1"/>
              <a:t>контролира</a:t>
            </a:r>
            <a:r>
              <a:rPr lang="ru-RU" dirty="0"/>
              <a:t> </a:t>
            </a:r>
            <a:r>
              <a:rPr lang="ru-RU" dirty="0" err="1"/>
              <a:t>автомобила</a:t>
            </a:r>
            <a:r>
              <a:rPr lang="ru-RU" dirty="0"/>
              <a:t> и </a:t>
            </a:r>
            <a:r>
              <a:rPr lang="ru-RU" dirty="0" err="1"/>
              <a:t>по-трудно</a:t>
            </a:r>
            <a:r>
              <a:rPr lang="ru-RU" dirty="0"/>
              <a:t> </a:t>
            </a:r>
            <a:r>
              <a:rPr lang="ru-RU" dirty="0" err="1"/>
              <a:t>избягва</a:t>
            </a:r>
            <a:r>
              <a:rPr lang="ru-RU" dirty="0"/>
              <a:t> опасности.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25CB7-E0B9-4D9A-8440-DD72C6394C83}"/>
              </a:ext>
            </a:extLst>
          </p:cNvPr>
          <p:cNvSpPr txBox="1"/>
          <p:nvPr/>
        </p:nvSpPr>
        <p:spPr>
          <a:xfrm>
            <a:off x="2286000" y="228600"/>
            <a:ext cx="7174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Скорост. Пътнотранспортни произшествия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7177" name="Picture 9" descr="Защита на пострадали при ПТП - 💰Най-високи обезщетения и ⚖️ наказване на  виновните">
            <a:extLst>
              <a:ext uri="{FF2B5EF4-FFF2-40B4-BE49-F238E27FC236}">
                <a16:creationId xmlns:a16="http://schemas.microsoft.com/office/drawing/2014/main" id="{84CB4FC7-BBF9-F1AE-DBEA-2BD8507D9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345" y="1654248"/>
            <a:ext cx="3264500" cy="193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11">
            <a:extLst>
              <a:ext uri="{FF2B5EF4-FFF2-40B4-BE49-F238E27FC236}">
                <a16:creationId xmlns:a16="http://schemas.microsoft.com/office/drawing/2014/main" id="{BF744BB1-5A04-6A56-3BC5-8C1263D0F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117" y="4244705"/>
            <a:ext cx="3308728" cy="220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98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93991-A557-73CB-2BBD-6DEB7F8A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247E-4C16-391A-DC2E-E003E9394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2158445"/>
            <a:ext cx="7162800" cy="3998515"/>
          </a:xfrm>
        </p:spPr>
        <p:txBody>
          <a:bodyPr>
            <a:noAutofit/>
          </a:bodyPr>
          <a:lstStyle/>
          <a:p>
            <a:r>
              <a:rPr lang="ru-RU" b="1" dirty="0"/>
              <a:t>Видове ПТП</a:t>
            </a:r>
            <a:br>
              <a:rPr lang="ru-RU" dirty="0"/>
            </a:br>
            <a:r>
              <a:rPr lang="ru-RU" dirty="0"/>
              <a:t>С участие –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участват</a:t>
            </a:r>
            <a:r>
              <a:rPr lang="ru-RU" dirty="0"/>
              <a:t> две или </a:t>
            </a:r>
            <a:r>
              <a:rPr lang="ru-RU" dirty="0" err="1"/>
              <a:t>повече</a:t>
            </a:r>
            <a:r>
              <a:rPr lang="ru-RU" dirty="0"/>
              <a:t> </a:t>
            </a:r>
            <a:r>
              <a:rPr lang="ru-RU" dirty="0" err="1"/>
              <a:t>превозни</a:t>
            </a:r>
            <a:r>
              <a:rPr lang="ru-RU" dirty="0"/>
              <a:t> средства или </a:t>
            </a:r>
            <a:r>
              <a:rPr lang="ru-RU" dirty="0" err="1"/>
              <a:t>пешеходци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Без участие –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произшествието</a:t>
            </a:r>
            <a:r>
              <a:rPr lang="ru-RU" dirty="0"/>
              <a:t> е само с </a:t>
            </a:r>
            <a:r>
              <a:rPr lang="ru-RU" dirty="0" err="1"/>
              <a:t>едно</a:t>
            </a:r>
            <a:r>
              <a:rPr lang="ru-RU" dirty="0"/>
              <a:t> </a:t>
            </a:r>
            <a:r>
              <a:rPr lang="ru-RU" dirty="0" err="1"/>
              <a:t>превозно</a:t>
            </a:r>
            <a:r>
              <a:rPr lang="ru-RU" dirty="0"/>
              <a:t> средство (например удар в препятствие или </a:t>
            </a:r>
            <a:r>
              <a:rPr lang="ru-RU" dirty="0" err="1"/>
              <a:t>излизане</a:t>
            </a:r>
            <a:r>
              <a:rPr lang="ru-RU" dirty="0"/>
              <a:t> от </a:t>
            </a:r>
            <a:r>
              <a:rPr lang="ru-RU" dirty="0" err="1"/>
              <a:t>пътя</a:t>
            </a:r>
            <a:r>
              <a:rPr lang="ru-RU" dirty="0"/>
              <a:t>).</a:t>
            </a:r>
          </a:p>
          <a:p>
            <a:r>
              <a:rPr lang="ru-RU" b="1" dirty="0" err="1"/>
              <a:t>Несъобразена</a:t>
            </a:r>
            <a:r>
              <a:rPr lang="ru-RU" b="1" dirty="0"/>
              <a:t> </a:t>
            </a:r>
            <a:r>
              <a:rPr lang="ru-RU" b="1" dirty="0" err="1"/>
              <a:t>скорост</a:t>
            </a:r>
            <a:br>
              <a:rPr lang="ru-RU" dirty="0"/>
            </a:br>
            <a:r>
              <a:rPr lang="ru-RU" dirty="0" err="1"/>
              <a:t>Несъобразена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 е движение с </a:t>
            </a:r>
            <a:r>
              <a:rPr lang="ru-RU" dirty="0" err="1"/>
              <a:t>такава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, </a:t>
            </a:r>
            <a:r>
              <a:rPr lang="ru-RU" dirty="0" err="1"/>
              <a:t>която</a:t>
            </a:r>
            <a:r>
              <a:rPr lang="ru-RU" dirty="0"/>
              <a:t> не е </a:t>
            </a:r>
            <a:r>
              <a:rPr lang="ru-RU" dirty="0" err="1"/>
              <a:t>съобразена</a:t>
            </a:r>
            <a:r>
              <a:rPr lang="ru-RU" dirty="0"/>
              <a:t> с </a:t>
            </a:r>
            <a:r>
              <a:rPr lang="ru-RU" dirty="0" err="1"/>
              <a:t>пътните</a:t>
            </a:r>
            <a:r>
              <a:rPr lang="ru-RU" dirty="0"/>
              <a:t> условия, трафика, </a:t>
            </a:r>
            <a:r>
              <a:rPr lang="ru-RU" dirty="0" err="1"/>
              <a:t>видимостта</a:t>
            </a:r>
            <a:r>
              <a:rPr lang="ru-RU" dirty="0"/>
              <a:t> или </a:t>
            </a:r>
            <a:r>
              <a:rPr lang="ru-RU" dirty="0" err="1"/>
              <a:t>състоянието</a:t>
            </a:r>
            <a:r>
              <a:rPr lang="ru-RU" dirty="0"/>
              <a:t> на </a:t>
            </a:r>
            <a:r>
              <a:rPr lang="ru-RU" dirty="0" err="1"/>
              <a:t>пътя</a:t>
            </a:r>
            <a:r>
              <a:rPr lang="ru-RU" dirty="0"/>
              <a:t>. </a:t>
            </a:r>
            <a:r>
              <a:rPr lang="ru-RU" dirty="0" err="1"/>
              <a:t>Тя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бъде</a:t>
            </a:r>
            <a:r>
              <a:rPr lang="ru-RU" dirty="0"/>
              <a:t> опасна дори </a:t>
            </a:r>
            <a:r>
              <a:rPr lang="ru-RU" dirty="0" err="1"/>
              <a:t>ако</a:t>
            </a:r>
            <a:r>
              <a:rPr lang="ru-RU" dirty="0"/>
              <a:t> е под </a:t>
            </a:r>
            <a:r>
              <a:rPr lang="ru-RU" dirty="0" err="1"/>
              <a:t>разрешената</a:t>
            </a:r>
            <a:r>
              <a:rPr lang="ru-RU" dirty="0"/>
              <a:t> </a:t>
            </a:r>
            <a:r>
              <a:rPr lang="ru-RU" dirty="0" err="1"/>
              <a:t>максимална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25CB7-E0B9-4D9A-8440-DD72C6394C83}"/>
              </a:ext>
            </a:extLst>
          </p:cNvPr>
          <p:cNvSpPr txBox="1"/>
          <p:nvPr/>
        </p:nvSpPr>
        <p:spPr>
          <a:xfrm>
            <a:off x="3108960" y="21336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Скорост. Пътнотранспортни произшествия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8198" name="Picture 6" descr="Ужасът със Сияна се повтори - турски тир помете кола в насрещното и уби  дете на 9 години (Обзор)">
            <a:extLst>
              <a:ext uri="{FF2B5EF4-FFF2-40B4-BE49-F238E27FC236}">
                <a16:creationId xmlns:a16="http://schemas.microsoft.com/office/drawing/2014/main" id="{65121F67-D621-CC07-99AE-54010CE73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" r="6581"/>
          <a:stretch/>
        </p:blipFill>
        <p:spPr bwMode="auto">
          <a:xfrm>
            <a:off x="8168640" y="2021285"/>
            <a:ext cx="3185160" cy="188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Какви са последствията при несъобразена скорост на пътя — Севлиево.Нет">
            <a:extLst>
              <a:ext uri="{FF2B5EF4-FFF2-40B4-BE49-F238E27FC236}">
                <a16:creationId xmlns:a16="http://schemas.microsoft.com/office/drawing/2014/main" id="{C7F69E38-A430-861A-B0AD-40FF4B044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360" y="4404360"/>
            <a:ext cx="3048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9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84AA6-8D5E-D210-20F9-819354E4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1D48A-AF87-559E-6B69-94F2A30A3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250" y="2298896"/>
            <a:ext cx="6969250" cy="3522784"/>
          </a:xfrm>
        </p:spPr>
        <p:txBody>
          <a:bodyPr>
            <a:noAutofit/>
          </a:bodyPr>
          <a:lstStyle/>
          <a:p>
            <a:r>
              <a:rPr lang="ru-RU" sz="2000" b="1" dirty="0" err="1"/>
              <a:t>Сензорна</a:t>
            </a:r>
            <a:r>
              <a:rPr lang="ru-RU" sz="2000" b="1" dirty="0"/>
              <a:t> характеристика на </a:t>
            </a:r>
            <a:r>
              <a:rPr lang="ru-RU" sz="2000" b="1" dirty="0" err="1"/>
              <a:t>зрението</a:t>
            </a:r>
            <a:br>
              <a:rPr lang="ru-RU" sz="2000" dirty="0"/>
            </a:br>
            <a:r>
              <a:rPr lang="ru-RU" sz="2000" dirty="0" err="1"/>
              <a:t>Зрението</a:t>
            </a:r>
            <a:r>
              <a:rPr lang="ru-RU" sz="2000" dirty="0"/>
              <a:t> ми </a:t>
            </a:r>
            <a:r>
              <a:rPr lang="ru-RU" sz="2000" dirty="0" err="1"/>
              <a:t>позволява</a:t>
            </a:r>
            <a:r>
              <a:rPr lang="ru-RU" sz="2000" dirty="0"/>
              <a:t> да </a:t>
            </a:r>
            <a:r>
              <a:rPr lang="ru-RU" sz="2000" dirty="0" err="1"/>
              <a:t>възприемам</a:t>
            </a:r>
            <a:r>
              <a:rPr lang="ru-RU" sz="2000" dirty="0"/>
              <a:t> </a:t>
            </a:r>
            <a:r>
              <a:rPr lang="ru-RU" sz="2000" dirty="0" err="1"/>
              <a:t>околната</a:t>
            </a:r>
            <a:r>
              <a:rPr lang="ru-RU" sz="2000" dirty="0"/>
              <a:t> среда чрез светлина, форма, движение и </a:t>
            </a:r>
            <a:r>
              <a:rPr lang="ru-RU" sz="2000" dirty="0" err="1"/>
              <a:t>разстояние</a:t>
            </a:r>
            <a:r>
              <a:rPr lang="ru-RU" sz="2000" dirty="0"/>
              <a:t>. </a:t>
            </a:r>
            <a:r>
              <a:rPr lang="ru-RU" sz="2000" dirty="0" err="1"/>
              <a:t>Остротата</a:t>
            </a:r>
            <a:r>
              <a:rPr lang="ru-RU" sz="2000" dirty="0"/>
              <a:t> на </a:t>
            </a:r>
            <a:r>
              <a:rPr lang="ru-RU" sz="2000" dirty="0" err="1"/>
              <a:t>зрението</a:t>
            </a:r>
            <a:r>
              <a:rPr lang="ru-RU" sz="2000" dirty="0"/>
              <a:t> ми определя колко ясно </a:t>
            </a:r>
            <a:r>
              <a:rPr lang="ru-RU" sz="2000" dirty="0" err="1"/>
              <a:t>виждам</a:t>
            </a:r>
            <a:r>
              <a:rPr lang="ru-RU" sz="2000" dirty="0"/>
              <a:t> </a:t>
            </a:r>
            <a:r>
              <a:rPr lang="ru-RU" sz="2000" dirty="0" err="1"/>
              <a:t>детайлите</a:t>
            </a:r>
            <a:r>
              <a:rPr lang="ru-RU" sz="2000" dirty="0"/>
              <a:t>, а </a:t>
            </a:r>
            <a:r>
              <a:rPr lang="ru-RU" sz="2000" dirty="0" err="1"/>
              <a:t>периферното</a:t>
            </a:r>
            <a:r>
              <a:rPr lang="ru-RU" sz="2000" dirty="0"/>
              <a:t> зрение ми </a:t>
            </a:r>
            <a:r>
              <a:rPr lang="ru-RU" sz="2000" dirty="0" err="1"/>
              <a:t>помага</a:t>
            </a:r>
            <a:r>
              <a:rPr lang="ru-RU" sz="2000" dirty="0"/>
              <a:t> да </a:t>
            </a:r>
            <a:r>
              <a:rPr lang="ru-RU" sz="2000" dirty="0" err="1"/>
              <a:t>забелязвам</a:t>
            </a:r>
            <a:r>
              <a:rPr lang="ru-RU" sz="2000" dirty="0"/>
              <a:t> </a:t>
            </a:r>
            <a:r>
              <a:rPr lang="ru-RU" sz="2000" dirty="0" err="1"/>
              <a:t>обекти</a:t>
            </a:r>
            <a:r>
              <a:rPr lang="ru-RU" sz="2000" dirty="0"/>
              <a:t> </a:t>
            </a:r>
            <a:r>
              <a:rPr lang="ru-RU" sz="2000" dirty="0" err="1"/>
              <a:t>встрани</a:t>
            </a:r>
            <a:r>
              <a:rPr lang="ru-RU" sz="2000" dirty="0"/>
              <a:t>, без да </a:t>
            </a:r>
            <a:r>
              <a:rPr lang="ru-RU" sz="2000" dirty="0" err="1"/>
              <a:t>ги</a:t>
            </a:r>
            <a:r>
              <a:rPr lang="ru-RU" sz="2000" dirty="0"/>
              <a:t> </a:t>
            </a:r>
            <a:r>
              <a:rPr lang="ru-RU" sz="2000" dirty="0" err="1"/>
              <a:t>гледам</a:t>
            </a:r>
            <a:r>
              <a:rPr lang="ru-RU" sz="2000" dirty="0"/>
              <a:t> </a:t>
            </a:r>
            <a:r>
              <a:rPr lang="ru-RU" sz="2000" dirty="0" err="1"/>
              <a:t>директно</a:t>
            </a:r>
            <a:r>
              <a:rPr lang="ru-RU" sz="2000" dirty="0"/>
              <a:t>.</a:t>
            </a:r>
          </a:p>
          <a:p>
            <a:r>
              <a:rPr lang="ru-RU" sz="2000" b="1" dirty="0" err="1"/>
              <a:t>Акомодация</a:t>
            </a:r>
            <a:r>
              <a:rPr lang="ru-RU" sz="2000" b="1" dirty="0"/>
              <a:t> на </a:t>
            </a:r>
            <a:r>
              <a:rPr lang="ru-RU" sz="2000" b="1" dirty="0" err="1"/>
              <a:t>зрението</a:t>
            </a:r>
            <a:br>
              <a:rPr lang="ru-RU" sz="2000" dirty="0"/>
            </a:br>
            <a:r>
              <a:rPr lang="ru-RU" sz="2000" dirty="0" err="1"/>
              <a:t>Очите</a:t>
            </a:r>
            <a:r>
              <a:rPr lang="ru-RU" sz="2000" dirty="0"/>
              <a:t> ми се </a:t>
            </a:r>
            <a:r>
              <a:rPr lang="ru-RU" sz="2000" dirty="0" err="1"/>
              <a:t>приспособяват</a:t>
            </a:r>
            <a:r>
              <a:rPr lang="ru-RU" sz="2000" dirty="0"/>
              <a:t> да </a:t>
            </a:r>
            <a:r>
              <a:rPr lang="ru-RU" sz="2000" dirty="0" err="1"/>
              <a:t>виждат</a:t>
            </a:r>
            <a:r>
              <a:rPr lang="ru-RU" sz="2000" dirty="0"/>
              <a:t> ясно </a:t>
            </a:r>
            <a:r>
              <a:rPr lang="ru-RU" sz="2000" dirty="0" err="1"/>
              <a:t>както</a:t>
            </a:r>
            <a:r>
              <a:rPr lang="ru-RU" sz="2000" dirty="0"/>
              <a:t> близки, </a:t>
            </a:r>
            <a:r>
              <a:rPr lang="ru-RU" sz="2000" dirty="0" err="1"/>
              <a:t>така</a:t>
            </a:r>
            <a:r>
              <a:rPr lang="ru-RU" sz="2000" dirty="0"/>
              <a:t> и </a:t>
            </a:r>
            <a:r>
              <a:rPr lang="ru-RU" sz="2000" dirty="0" err="1"/>
              <a:t>далечни</a:t>
            </a:r>
            <a:r>
              <a:rPr lang="ru-RU" sz="2000" dirty="0"/>
              <a:t> </a:t>
            </a:r>
            <a:r>
              <a:rPr lang="ru-RU" sz="2000" dirty="0" err="1"/>
              <a:t>обекти</a:t>
            </a:r>
            <a:r>
              <a:rPr lang="ru-RU" sz="2000" dirty="0"/>
              <a:t>. </a:t>
            </a:r>
            <a:r>
              <a:rPr lang="ru-RU" sz="2000" dirty="0" err="1"/>
              <a:t>Това</a:t>
            </a:r>
            <a:r>
              <a:rPr lang="ru-RU" sz="2000" dirty="0"/>
              <a:t> е важно за </a:t>
            </a:r>
            <a:r>
              <a:rPr lang="ru-RU" sz="2000" dirty="0" err="1"/>
              <a:t>бързо</a:t>
            </a:r>
            <a:r>
              <a:rPr lang="ru-RU" sz="2000" dirty="0"/>
              <a:t> наблюдение на </a:t>
            </a:r>
            <a:r>
              <a:rPr lang="ru-RU" sz="2000" dirty="0" err="1"/>
              <a:t>пътната</a:t>
            </a:r>
            <a:r>
              <a:rPr lang="ru-RU" sz="2000" dirty="0"/>
              <a:t> обстановка при движение.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3E08A-86D6-ACBA-54A6-AD5914D78940}"/>
              </a:ext>
            </a:extLst>
          </p:cNvPr>
          <p:cNvSpPr txBox="1"/>
          <p:nvPr/>
        </p:nvSpPr>
        <p:spPr>
          <a:xfrm>
            <a:off x="1892810" y="428007"/>
            <a:ext cx="7647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latin typeface="+mj-lt"/>
              </a:rPr>
              <a:t>Сензорни характеристики на зрението</a:t>
            </a:r>
            <a:endParaRPr lang="en-US" sz="3600" dirty="0">
              <a:latin typeface="+mj-lt"/>
            </a:endParaRPr>
          </a:p>
        </p:txBody>
      </p:sp>
      <p:pic>
        <p:nvPicPr>
          <p:cNvPr id="9218" name="Picture 2" descr="Capgemini India Business Unit - Capgemini India">
            <a:extLst>
              <a:ext uri="{FF2B5EF4-FFF2-40B4-BE49-F238E27FC236}">
                <a16:creationId xmlns:a16="http://schemas.microsoft.com/office/drawing/2014/main" id="{1989347C-BDC8-9DFA-6023-CE93D9D1E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018" y="2035314"/>
            <a:ext cx="3286832" cy="187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Германия също страда от недостиг на шофьори на камиони">
            <a:extLst>
              <a:ext uri="{FF2B5EF4-FFF2-40B4-BE49-F238E27FC236}">
                <a16:creationId xmlns:a16="http://schemas.microsoft.com/office/drawing/2014/main" id="{C5D5E8F2-7D48-ABBC-89EB-F0D06D555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018" y="4543343"/>
            <a:ext cx="3128010" cy="175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44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84AA6-8D5E-D210-20F9-819354E4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1D48A-AF87-559E-6B69-94F2A30A3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10" y="1981200"/>
            <a:ext cx="6748270" cy="4191000"/>
          </a:xfrm>
        </p:spPr>
        <p:txBody>
          <a:bodyPr>
            <a:noAutofit/>
          </a:bodyPr>
          <a:lstStyle/>
          <a:p>
            <a:r>
              <a:rPr lang="ru-RU" sz="2000" b="1" dirty="0"/>
              <a:t>Нощно зрение</a:t>
            </a:r>
            <a:br>
              <a:rPr lang="ru-RU" sz="2000" dirty="0"/>
            </a:br>
            <a:r>
              <a:rPr lang="ru-RU" sz="2000" dirty="0"/>
              <a:t>При слаба светлина </a:t>
            </a:r>
            <a:r>
              <a:rPr lang="ru-RU" sz="2000" dirty="0" err="1"/>
              <a:t>виждам</a:t>
            </a:r>
            <a:r>
              <a:rPr lang="ru-RU" sz="2000" dirty="0"/>
              <a:t> </a:t>
            </a:r>
            <a:r>
              <a:rPr lang="ru-RU" sz="2000" dirty="0" err="1"/>
              <a:t>по-трудно</a:t>
            </a:r>
            <a:r>
              <a:rPr lang="ru-RU" sz="2000" dirty="0"/>
              <a:t>, </a:t>
            </a:r>
            <a:r>
              <a:rPr lang="ru-RU" sz="2000" dirty="0" err="1"/>
              <a:t>затова</a:t>
            </a:r>
            <a:r>
              <a:rPr lang="ru-RU" sz="2000" dirty="0"/>
              <a:t> е важно да се </a:t>
            </a:r>
            <a:r>
              <a:rPr lang="ru-RU" sz="2000" dirty="0" err="1"/>
              <a:t>движа</a:t>
            </a:r>
            <a:r>
              <a:rPr lang="ru-RU" sz="2000" dirty="0"/>
              <a:t> </a:t>
            </a:r>
            <a:r>
              <a:rPr lang="ru-RU" sz="2000" dirty="0" err="1"/>
              <a:t>по-внимателно</a:t>
            </a:r>
            <a:r>
              <a:rPr lang="ru-RU" sz="2000" dirty="0"/>
              <a:t> в </a:t>
            </a:r>
            <a:r>
              <a:rPr lang="ru-RU" sz="2000" dirty="0" err="1"/>
              <a:t>тъмни</a:t>
            </a:r>
            <a:r>
              <a:rPr lang="ru-RU" sz="2000" dirty="0"/>
              <a:t> условия. В </a:t>
            </a:r>
            <a:r>
              <a:rPr lang="ru-RU" sz="2000" dirty="0" err="1"/>
              <a:t>тъмното</a:t>
            </a:r>
            <a:r>
              <a:rPr lang="ru-RU" sz="2000" dirty="0"/>
              <a:t> </a:t>
            </a:r>
            <a:r>
              <a:rPr lang="ru-RU" sz="2000" dirty="0" err="1"/>
              <a:t>реакциите</a:t>
            </a:r>
            <a:r>
              <a:rPr lang="ru-RU" sz="2000" dirty="0"/>
              <a:t> ми и </a:t>
            </a:r>
            <a:r>
              <a:rPr lang="ru-RU" sz="2000" dirty="0" err="1"/>
              <a:t>възприемането</a:t>
            </a:r>
            <a:r>
              <a:rPr lang="ru-RU" sz="2000" dirty="0"/>
              <a:t> на </a:t>
            </a:r>
            <a:r>
              <a:rPr lang="ru-RU" sz="2000" dirty="0" err="1"/>
              <a:t>детайли</a:t>
            </a:r>
            <a:r>
              <a:rPr lang="ru-RU" sz="2000" dirty="0"/>
              <a:t> се </a:t>
            </a:r>
            <a:r>
              <a:rPr lang="ru-RU" sz="2000" dirty="0" err="1"/>
              <a:t>влошават</a:t>
            </a:r>
            <a:r>
              <a:rPr lang="ru-RU" sz="2000" dirty="0"/>
              <a:t>.</a:t>
            </a:r>
          </a:p>
          <a:p>
            <a:r>
              <a:rPr lang="ru-RU" sz="2000" b="1" dirty="0" err="1"/>
              <a:t>Цветово</a:t>
            </a:r>
            <a:r>
              <a:rPr lang="ru-RU" sz="2000" b="1" dirty="0"/>
              <a:t> </a:t>
            </a:r>
            <a:r>
              <a:rPr lang="ru-RU" sz="2000" b="1" dirty="0" err="1"/>
              <a:t>виждане</a:t>
            </a:r>
            <a:r>
              <a:rPr lang="ru-RU" sz="2000" b="1" dirty="0"/>
              <a:t> (цветно зрение)</a:t>
            </a:r>
            <a:br>
              <a:rPr lang="ru-RU" sz="2000" dirty="0"/>
            </a:br>
            <a:r>
              <a:rPr lang="ru-RU" sz="2000" dirty="0" err="1"/>
              <a:t>Цветното</a:t>
            </a:r>
            <a:r>
              <a:rPr lang="ru-RU" sz="2000" dirty="0"/>
              <a:t> зрение ми </a:t>
            </a:r>
            <a:r>
              <a:rPr lang="ru-RU" sz="2000" dirty="0" err="1"/>
              <a:t>позволява</a:t>
            </a:r>
            <a:r>
              <a:rPr lang="ru-RU" sz="2000" dirty="0"/>
              <a:t> да </a:t>
            </a:r>
            <a:r>
              <a:rPr lang="ru-RU" sz="2000" dirty="0" err="1"/>
              <a:t>различавам</a:t>
            </a:r>
            <a:r>
              <a:rPr lang="ru-RU" sz="2000" dirty="0"/>
              <a:t> </a:t>
            </a:r>
            <a:r>
              <a:rPr lang="ru-RU" sz="2000" dirty="0" err="1"/>
              <a:t>цветовете</a:t>
            </a:r>
            <a:r>
              <a:rPr lang="ru-RU" sz="2000" dirty="0"/>
              <a:t> на </a:t>
            </a:r>
            <a:r>
              <a:rPr lang="ru-RU" sz="2000" dirty="0" err="1"/>
              <a:t>обектите</a:t>
            </a:r>
            <a:r>
              <a:rPr lang="ru-RU" sz="2000" dirty="0"/>
              <a:t>, </a:t>
            </a:r>
            <a:r>
              <a:rPr lang="ru-RU" sz="2000" dirty="0" err="1"/>
              <a:t>включително</a:t>
            </a:r>
            <a:r>
              <a:rPr lang="ru-RU" sz="2000" dirty="0"/>
              <a:t> </a:t>
            </a:r>
            <a:r>
              <a:rPr lang="ru-RU" sz="2000" dirty="0" err="1"/>
              <a:t>пътните</a:t>
            </a:r>
            <a:r>
              <a:rPr lang="ru-RU" sz="2000" dirty="0"/>
              <a:t> </a:t>
            </a:r>
            <a:r>
              <a:rPr lang="ru-RU" sz="2000" dirty="0" err="1"/>
              <a:t>знаци</a:t>
            </a:r>
            <a:r>
              <a:rPr lang="ru-RU" sz="2000" dirty="0"/>
              <a:t> и </a:t>
            </a:r>
            <a:r>
              <a:rPr lang="ru-RU" sz="2000" dirty="0" err="1"/>
              <a:t>светофарите</a:t>
            </a:r>
            <a:r>
              <a:rPr lang="ru-RU" sz="2000" dirty="0"/>
              <a:t>. </a:t>
            </a:r>
            <a:r>
              <a:rPr lang="ru-RU" sz="2000" dirty="0" err="1"/>
              <a:t>Това</a:t>
            </a:r>
            <a:r>
              <a:rPr lang="ru-RU" sz="2000" dirty="0"/>
              <a:t> е важно за </a:t>
            </a:r>
            <a:r>
              <a:rPr lang="ru-RU" sz="2000" dirty="0" err="1"/>
              <a:t>правилното</a:t>
            </a:r>
            <a:r>
              <a:rPr lang="ru-RU" sz="2000" dirty="0"/>
              <a:t> </a:t>
            </a:r>
            <a:r>
              <a:rPr lang="ru-RU" sz="2000" dirty="0" err="1"/>
              <a:t>разпознаване</a:t>
            </a:r>
            <a:r>
              <a:rPr lang="ru-RU" sz="2000" dirty="0"/>
              <a:t> на </a:t>
            </a:r>
            <a:r>
              <a:rPr lang="ru-RU" sz="2000" dirty="0" err="1"/>
              <a:t>сигнали</a:t>
            </a:r>
            <a:r>
              <a:rPr lang="ru-RU" sz="2000" dirty="0"/>
              <a:t> и </a:t>
            </a:r>
            <a:r>
              <a:rPr lang="ru-RU" sz="2000" dirty="0" err="1"/>
              <a:t>безопасното</a:t>
            </a:r>
            <a:r>
              <a:rPr lang="ru-RU" sz="2000" dirty="0"/>
              <a:t> движение.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3E08A-86D6-ACBA-54A6-AD5914D78940}"/>
              </a:ext>
            </a:extLst>
          </p:cNvPr>
          <p:cNvSpPr txBox="1"/>
          <p:nvPr/>
        </p:nvSpPr>
        <p:spPr>
          <a:xfrm>
            <a:off x="1892810" y="428007"/>
            <a:ext cx="76474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latin typeface="+mj-lt"/>
              </a:rPr>
              <a:t>Сензорни характеристики на зрението</a:t>
            </a:r>
            <a:endParaRPr lang="en-US" sz="36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ECFBD-5ABC-9875-59E0-5C8361A11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0" y="1495604"/>
            <a:ext cx="2895600" cy="2171700"/>
          </a:xfrm>
          <a:prstGeom prst="rect">
            <a:avLst/>
          </a:prstGeom>
        </p:spPr>
      </p:pic>
      <p:pic>
        <p:nvPicPr>
          <p:cNvPr id="10244" name="Picture 4" descr="Нарушения в цветното зрение | Puls.bg">
            <a:extLst>
              <a:ext uri="{FF2B5EF4-FFF2-40B4-BE49-F238E27FC236}">
                <a16:creationId xmlns:a16="http://schemas.microsoft.com/office/drawing/2014/main" id="{69DD7F45-1AC0-814A-2437-CB34E4CA6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869" y="4188784"/>
            <a:ext cx="3569381" cy="200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37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84AA6-8D5E-D210-20F9-819354E4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1D48A-AF87-559E-6B69-94F2A30A3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1981200"/>
            <a:ext cx="10256520" cy="4191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err="1"/>
              <a:t>Безопасността</a:t>
            </a:r>
            <a:r>
              <a:rPr lang="ru-RU" dirty="0"/>
              <a:t> на </a:t>
            </a:r>
            <a:r>
              <a:rPr lang="ru-RU" dirty="0" err="1"/>
              <a:t>движението</a:t>
            </a:r>
            <a:r>
              <a:rPr lang="ru-RU" dirty="0"/>
              <a:t> по </a:t>
            </a:r>
            <a:r>
              <a:rPr lang="ru-RU" dirty="0" err="1"/>
              <a:t>пътищата</a:t>
            </a:r>
            <a:r>
              <a:rPr lang="ru-RU" dirty="0"/>
              <a:t> </a:t>
            </a:r>
            <a:r>
              <a:rPr lang="ru-RU" dirty="0" err="1"/>
              <a:t>зависи</a:t>
            </a:r>
            <a:r>
              <a:rPr lang="ru-RU" dirty="0"/>
              <a:t> от </a:t>
            </a:r>
            <a:r>
              <a:rPr lang="ru-RU" dirty="0" err="1"/>
              <a:t>знанията</a:t>
            </a:r>
            <a:r>
              <a:rPr lang="ru-RU" dirty="0"/>
              <a:t>, </a:t>
            </a:r>
            <a:r>
              <a:rPr lang="ru-RU" dirty="0" err="1"/>
              <a:t>уменията</a:t>
            </a:r>
            <a:r>
              <a:rPr lang="ru-RU" dirty="0"/>
              <a:t> и </a:t>
            </a:r>
            <a:r>
              <a:rPr lang="ru-RU" dirty="0" err="1"/>
              <a:t>отговорното</a:t>
            </a:r>
            <a:r>
              <a:rPr lang="ru-RU" dirty="0"/>
              <a:t> поведение на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участници</a:t>
            </a:r>
            <a:r>
              <a:rPr lang="ru-RU" dirty="0"/>
              <a:t>. </a:t>
            </a:r>
            <a:r>
              <a:rPr lang="ru-RU" dirty="0" err="1"/>
              <a:t>Спазването</a:t>
            </a:r>
            <a:r>
              <a:rPr lang="ru-RU" dirty="0"/>
              <a:t> на </a:t>
            </a:r>
            <a:r>
              <a:rPr lang="ru-RU" dirty="0" err="1"/>
              <a:t>пътните</a:t>
            </a:r>
            <a:r>
              <a:rPr lang="ru-RU" dirty="0"/>
              <a:t> правила, </a:t>
            </a:r>
            <a:r>
              <a:rPr lang="ru-RU" dirty="0" err="1"/>
              <a:t>правилното</a:t>
            </a:r>
            <a:r>
              <a:rPr lang="ru-RU" dirty="0"/>
              <a:t> </a:t>
            </a:r>
            <a:r>
              <a:rPr lang="ru-RU" dirty="0" err="1"/>
              <a:t>разпознаване</a:t>
            </a:r>
            <a:r>
              <a:rPr lang="ru-RU" dirty="0"/>
              <a:t> на </a:t>
            </a:r>
            <a:r>
              <a:rPr lang="ru-RU" dirty="0" err="1"/>
              <a:t>знаците</a:t>
            </a:r>
            <a:r>
              <a:rPr lang="ru-RU" dirty="0"/>
              <a:t> и </a:t>
            </a:r>
            <a:r>
              <a:rPr lang="ru-RU" dirty="0" err="1"/>
              <a:t>съобразената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основа за </a:t>
            </a:r>
            <a:r>
              <a:rPr lang="ru-RU" dirty="0" err="1"/>
              <a:t>предотвратяване</a:t>
            </a:r>
            <a:r>
              <a:rPr lang="ru-RU" dirty="0"/>
              <a:t> на </a:t>
            </a:r>
            <a:r>
              <a:rPr lang="ru-RU" dirty="0" err="1"/>
              <a:t>конфликти</a:t>
            </a:r>
            <a:r>
              <a:rPr lang="ru-RU" dirty="0"/>
              <a:t>, </a:t>
            </a:r>
            <a:r>
              <a:rPr lang="ru-RU" dirty="0" err="1"/>
              <a:t>инциденти</a:t>
            </a:r>
            <a:r>
              <a:rPr lang="ru-RU" dirty="0"/>
              <a:t> и </a:t>
            </a:r>
            <a:r>
              <a:rPr lang="ru-RU" dirty="0" err="1"/>
              <a:t>катастрофи</a:t>
            </a:r>
            <a:r>
              <a:rPr lang="ru-RU" dirty="0"/>
              <a:t>. Важна роля </a:t>
            </a:r>
            <a:r>
              <a:rPr lang="ru-RU" dirty="0" err="1"/>
              <a:t>имат</a:t>
            </a:r>
            <a:r>
              <a:rPr lang="ru-RU" dirty="0"/>
              <a:t> и </a:t>
            </a:r>
            <a:r>
              <a:rPr lang="ru-RU" dirty="0" err="1"/>
              <a:t>техническите</a:t>
            </a:r>
            <a:r>
              <a:rPr lang="ru-RU" dirty="0"/>
              <a:t> средства, </a:t>
            </a:r>
            <a:r>
              <a:rPr lang="ru-RU" dirty="0" err="1"/>
              <a:t>пътната</a:t>
            </a:r>
            <a:r>
              <a:rPr lang="ru-RU" dirty="0"/>
              <a:t> среда и </a:t>
            </a:r>
            <a:r>
              <a:rPr lang="ru-RU" dirty="0" err="1"/>
              <a:t>физическото</a:t>
            </a:r>
            <a:r>
              <a:rPr lang="ru-RU" dirty="0"/>
              <a:t> </a:t>
            </a:r>
            <a:r>
              <a:rPr lang="ru-RU" dirty="0" err="1"/>
              <a:t>състояние</a:t>
            </a:r>
            <a:r>
              <a:rPr lang="ru-RU" dirty="0"/>
              <a:t> на </a:t>
            </a:r>
            <a:r>
              <a:rPr lang="ru-RU" dirty="0" err="1"/>
              <a:t>водача</a:t>
            </a:r>
            <a:r>
              <a:rPr lang="ru-RU" dirty="0"/>
              <a:t>, </a:t>
            </a:r>
            <a:r>
              <a:rPr lang="ru-RU" dirty="0" err="1"/>
              <a:t>включително</a:t>
            </a:r>
            <a:r>
              <a:rPr lang="ru-RU" dirty="0"/>
              <a:t> </a:t>
            </a:r>
            <a:r>
              <a:rPr lang="ru-RU" dirty="0" err="1"/>
              <a:t>зрението</a:t>
            </a:r>
            <a:r>
              <a:rPr lang="ru-RU" dirty="0"/>
              <a:t> и </a:t>
            </a:r>
            <a:r>
              <a:rPr lang="ru-RU" dirty="0" err="1"/>
              <a:t>реакциите</a:t>
            </a:r>
            <a:r>
              <a:rPr lang="ru-RU" dirty="0"/>
              <a:t>. </a:t>
            </a:r>
            <a:r>
              <a:rPr lang="ru-RU" dirty="0" err="1"/>
              <a:t>Правилното</a:t>
            </a:r>
            <a:r>
              <a:rPr lang="ru-RU" dirty="0"/>
              <a:t> </a:t>
            </a:r>
            <a:r>
              <a:rPr lang="ru-RU" dirty="0" err="1"/>
              <a:t>анализиране</a:t>
            </a:r>
            <a:r>
              <a:rPr lang="ru-RU" dirty="0"/>
              <a:t> и </a:t>
            </a:r>
            <a:r>
              <a:rPr lang="ru-RU" dirty="0" err="1"/>
              <a:t>прогнозиране</a:t>
            </a:r>
            <a:r>
              <a:rPr lang="ru-RU" dirty="0"/>
              <a:t> на </a:t>
            </a:r>
            <a:r>
              <a:rPr lang="ru-RU" dirty="0" err="1"/>
              <a:t>пътните</a:t>
            </a:r>
            <a:r>
              <a:rPr lang="ru-RU" dirty="0"/>
              <a:t> ситуации </a:t>
            </a:r>
            <a:r>
              <a:rPr lang="ru-RU" dirty="0" err="1"/>
              <a:t>помага</a:t>
            </a:r>
            <a:r>
              <a:rPr lang="ru-RU" dirty="0"/>
              <a:t> за </a:t>
            </a:r>
            <a:r>
              <a:rPr lang="ru-RU" dirty="0" err="1"/>
              <a:t>вземане</a:t>
            </a:r>
            <a:r>
              <a:rPr lang="ru-RU" dirty="0"/>
              <a:t> на </a:t>
            </a:r>
            <a:r>
              <a:rPr lang="ru-RU" dirty="0" err="1"/>
              <a:t>безопасни</a:t>
            </a:r>
            <a:r>
              <a:rPr lang="ru-RU" dirty="0"/>
              <a:t> решения. Само чрез дисциплина и внимание на </a:t>
            </a:r>
            <a:r>
              <a:rPr lang="ru-RU" dirty="0" err="1"/>
              <a:t>пътя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се </a:t>
            </a:r>
            <a:r>
              <a:rPr lang="ru-RU" dirty="0" err="1"/>
              <a:t>гарантира</a:t>
            </a:r>
            <a:r>
              <a:rPr lang="ru-RU" dirty="0"/>
              <a:t> </a:t>
            </a:r>
            <a:r>
              <a:rPr lang="ru-RU" dirty="0" err="1"/>
              <a:t>сигурност</a:t>
            </a:r>
            <a:r>
              <a:rPr lang="ru-RU" dirty="0"/>
              <a:t> за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участници</a:t>
            </a:r>
            <a:r>
              <a:rPr lang="ru-RU" dirty="0"/>
              <a:t> в </a:t>
            </a:r>
            <a:r>
              <a:rPr lang="ru-RU" dirty="0" err="1"/>
              <a:t>движението</a:t>
            </a:r>
            <a:r>
              <a:rPr lang="ru-RU" dirty="0"/>
              <a:t>.</a:t>
            </a: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3E08A-86D6-ACBA-54A6-AD5914D78940}"/>
              </a:ext>
            </a:extLst>
          </p:cNvPr>
          <p:cNvSpPr txBox="1"/>
          <p:nvPr/>
        </p:nvSpPr>
        <p:spPr>
          <a:xfrm>
            <a:off x="1892810" y="428007"/>
            <a:ext cx="764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latin typeface="+mj-lt"/>
              </a:rPr>
              <a:t>Заключение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4019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</TotalTime>
  <Words>783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Georgia</vt:lpstr>
      <vt:lpstr>Wingdings 3</vt:lpstr>
      <vt:lpstr>Ion</vt:lpstr>
      <vt:lpstr>Безопасност на движението по пътищата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Виолета Маринова</cp:lastModifiedBy>
  <cp:revision>11</cp:revision>
  <dcterms:created xsi:type="dcterms:W3CDTF">2026-05-02T07:39:01Z</dcterms:created>
  <dcterms:modified xsi:type="dcterms:W3CDTF">2026-05-03T12:22:17Z</dcterms:modified>
</cp:coreProperties>
</file>