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sldIdLst>
    <p:sldId id="256" r:id="rId2"/>
    <p:sldId id="257" r:id="rId3"/>
    <p:sldId id="266" r:id="rId4"/>
    <p:sldId id="267" r:id="rId5"/>
    <p:sldId id="268" r:id="rId6"/>
    <p:sldId id="269" r:id="rId7"/>
    <p:sldId id="262" r:id="rId8"/>
    <p:sldId id="270" r:id="rId9"/>
    <p:sldId id="271" r:id="rId10"/>
    <p:sldId id="272" r:id="rId11"/>
    <p:sldId id="263" r:id="rId12"/>
    <p:sldId id="273" r:id="rId13"/>
    <p:sldId id="264" r:id="rId14"/>
    <p:sldId id="274" r:id="rId15"/>
    <p:sldId id="265" r:id="rId16"/>
    <p:sldId id="275" r:id="rId17"/>
    <p:sldId id="27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13" autoAdjust="0"/>
    <p:restoredTop sz="94660"/>
  </p:normalViewPr>
  <p:slideViewPr>
    <p:cSldViewPr snapToGrid="0">
      <p:cViewPr varScale="1">
        <p:scale>
          <a:sx n="83" d="100"/>
          <a:sy n="83" d="100"/>
        </p:scale>
        <p:origin x="72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3205900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4069148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354882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5C9BE59-9FDA-4218-B1E5-74AAF748D947}" type="datetimeFigureOut">
              <a:rPr lang="bg-BG" smtClean="0"/>
              <a:t>3.5.2026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740532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5C9BE59-9FDA-4218-B1E5-74AAF748D947}" type="datetimeFigureOut">
              <a:rPr lang="bg-BG" smtClean="0"/>
              <a:t>3.5.2026 г.</a:t>
            </a:fld>
            <a:endParaRPr lang="bg-BG"/>
          </a:p>
        </p:txBody>
      </p:sp>
      <p:sp>
        <p:nvSpPr>
          <p:cNvPr id="8" name="Footer Placeholder 7"/>
          <p:cNvSpPr>
            <a:spLocks noGrp="1"/>
          </p:cNvSpPr>
          <p:nvPr>
            <p:ph type="ftr" sz="quarter" idx="11"/>
          </p:nvPr>
        </p:nvSpPr>
        <p:spPr/>
        <p:txBody>
          <a:bodyPr/>
          <a:lstStyle/>
          <a:p>
            <a:endParaRPr lang="bg-BG"/>
          </a:p>
        </p:txBody>
      </p:sp>
      <p:sp>
        <p:nvSpPr>
          <p:cNvPr id="9" name="Slide Number Placeholder 8"/>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4244229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3"/>
          <p:cNvSpPr>
            <a:spLocks noGrp="1"/>
          </p:cNvSpPr>
          <p:nvPr>
            <p:ph type="ftr" sz="quarter" idx="11"/>
          </p:nvPr>
        </p:nvSpPr>
        <p:spPr/>
        <p:txBody>
          <a:bodyPr/>
          <a:lstStyle/>
          <a:p>
            <a:endParaRPr lang="bg-BG"/>
          </a:p>
        </p:txBody>
      </p:sp>
      <p:sp>
        <p:nvSpPr>
          <p:cNvPr id="6" name="Slide Number Placeholder 4"/>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1474045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2"/>
          <p:cNvSpPr>
            <a:spLocks noGrp="1"/>
          </p:cNvSpPr>
          <p:nvPr>
            <p:ph type="ftr" sz="quarter" idx="11"/>
          </p:nvPr>
        </p:nvSpPr>
        <p:spPr/>
        <p:txBody>
          <a:bodyPr/>
          <a:lstStyle/>
          <a:p>
            <a:endParaRPr lang="bg-BG"/>
          </a:p>
        </p:txBody>
      </p:sp>
      <p:sp>
        <p:nvSpPr>
          <p:cNvPr id="6" name="Slide Number Placeholder 3"/>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3974072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5"/>
          <p:cNvSpPr>
            <a:spLocks noGrp="1"/>
          </p:cNvSpPr>
          <p:nvPr>
            <p:ph type="ftr" sz="quarter" idx="11"/>
          </p:nvPr>
        </p:nvSpPr>
        <p:spPr/>
        <p:txBody>
          <a:bodyPr/>
          <a:lstStyle/>
          <a:p>
            <a:endParaRPr lang="bg-BG"/>
          </a:p>
        </p:txBody>
      </p:sp>
      <p:sp>
        <p:nvSpPr>
          <p:cNvPr id="6" name="Slide Number Placeholder 6"/>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3177867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C9BE59-9FDA-4218-B1E5-74AAF748D947}" type="datetimeFigureOut">
              <a:rPr lang="bg-BG" smtClean="0"/>
              <a:t>3.5.2026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9884679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5C9BE59-9FDA-4218-B1E5-74AAF748D947}" type="datetimeFigureOut">
              <a:rPr lang="bg-BG" smtClean="0"/>
              <a:t>3.5.2026 г.</a:t>
            </a:fld>
            <a:endParaRPr lang="bg-BG"/>
          </a:p>
        </p:txBody>
      </p:sp>
      <p:sp>
        <p:nvSpPr>
          <p:cNvPr id="6" name="Footer Placeholder 5"/>
          <p:cNvSpPr>
            <a:spLocks noGrp="1"/>
          </p:cNvSpPr>
          <p:nvPr>
            <p:ph type="ftr" sz="quarter" idx="11"/>
          </p:nvPr>
        </p:nvSpPr>
        <p:spPr/>
        <p:txBody>
          <a:bodyPr/>
          <a:lstStyle/>
          <a:p>
            <a:endParaRPr lang="bg-BG"/>
          </a:p>
        </p:txBody>
      </p:sp>
      <p:sp>
        <p:nvSpPr>
          <p:cNvPr id="7" name="Slide Number Placeholder 6"/>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1722867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1856088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834026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1807652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4"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663475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4"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8593671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41344068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C9BE59-9FDA-4218-B1E5-74AAF748D947}" type="datetimeFigureOut">
              <a:rPr lang="bg-BG" smtClean="0"/>
              <a:t>3.5.2026 г.</a:t>
            </a:fld>
            <a:endParaRPr lang="bg-BG"/>
          </a:p>
        </p:txBody>
      </p:sp>
      <p:sp>
        <p:nvSpPr>
          <p:cNvPr id="5" name="Footer Placeholder 4"/>
          <p:cNvSpPr>
            <a:spLocks noGrp="1"/>
          </p:cNvSpPr>
          <p:nvPr>
            <p:ph type="ftr" sz="quarter" idx="11"/>
          </p:nvPr>
        </p:nvSpPr>
        <p:spPr/>
        <p:txBody>
          <a:bodyPr/>
          <a:lstStyle/>
          <a:p>
            <a:endParaRPr lang="bg-BG"/>
          </a:p>
        </p:txBody>
      </p:sp>
      <p:sp>
        <p:nvSpPr>
          <p:cNvPr id="6" name="Slide Number Placeholder 5"/>
          <p:cNvSpPr>
            <a:spLocks noGrp="1"/>
          </p:cNvSpPr>
          <p:nvPr>
            <p:ph type="sldNum" sz="quarter" idx="12"/>
          </p:nvPr>
        </p:nvSpPr>
        <p:spPr/>
        <p:txBody>
          <a:bodyPr/>
          <a:lstStyle/>
          <a:p>
            <a:fld id="{A344ED3D-440B-4BBB-B805-B681C3645AE6}" type="slidenum">
              <a:rPr lang="bg-BG" smtClean="0"/>
              <a:t>‹#›</a:t>
            </a:fld>
            <a:endParaRPr lang="bg-BG"/>
          </a:p>
        </p:txBody>
      </p:sp>
    </p:spTree>
    <p:extLst>
      <p:ext uri="{BB962C8B-B14F-4D97-AF65-F5344CB8AC3E}">
        <p14:creationId xmlns:p14="http://schemas.microsoft.com/office/powerpoint/2010/main" val="18099735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5C9BE59-9FDA-4218-B1E5-74AAF748D947}" type="datetimeFigureOut">
              <a:rPr lang="bg-BG" smtClean="0"/>
              <a:t>3.5.2026 г.</a:t>
            </a:fld>
            <a:endParaRPr lang="bg-BG"/>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bg-BG"/>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344ED3D-440B-4BBB-B805-B681C3645AE6}" type="slidenum">
              <a:rPr lang="bg-BG" smtClean="0"/>
              <a:t>‹#›</a:t>
            </a:fld>
            <a:endParaRPr lang="bg-BG"/>
          </a:p>
        </p:txBody>
      </p:sp>
    </p:spTree>
    <p:extLst>
      <p:ext uri="{BB962C8B-B14F-4D97-AF65-F5344CB8AC3E}">
        <p14:creationId xmlns:p14="http://schemas.microsoft.com/office/powerpoint/2010/main" val="1848106501"/>
      </p:ext>
    </p:extLst>
  </p:cSld>
  <p:clrMap bg1="dk1" tx1="lt1" bg2="dk2" tx2="lt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 id="2147483865" r:id="rId13"/>
    <p:sldLayoutId id="2147483866" r:id="rId14"/>
    <p:sldLayoutId id="2147483867" r:id="rId15"/>
    <p:sldLayoutId id="2147483868" r:id="rId16"/>
    <p:sldLayoutId id="214748386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jpeg"/></Relationships>
</file>

<file path=ppt/slides/_rels/slide1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1611C-9077-6C71-8C79-CD09B39F0DC8}"/>
              </a:ext>
            </a:extLst>
          </p:cNvPr>
          <p:cNvSpPr>
            <a:spLocks noGrp="1"/>
          </p:cNvSpPr>
          <p:nvPr>
            <p:ph type="ctrTitle"/>
          </p:nvPr>
        </p:nvSpPr>
        <p:spPr/>
        <p:txBody>
          <a:bodyPr>
            <a:normAutofit fontScale="90000"/>
          </a:bodyPr>
          <a:lstStyle/>
          <a:p>
            <a:r>
              <a:rPr lang="bg-BG" dirty="0"/>
              <a:t>Безопасност на движението по пътищата </a:t>
            </a:r>
          </a:p>
        </p:txBody>
      </p:sp>
      <p:sp>
        <p:nvSpPr>
          <p:cNvPr id="3" name="Subtitle 2">
            <a:extLst>
              <a:ext uri="{FF2B5EF4-FFF2-40B4-BE49-F238E27FC236}">
                <a16:creationId xmlns:a16="http://schemas.microsoft.com/office/drawing/2014/main" id="{85A9F228-2C4F-DBFD-1611-04B0EA356781}"/>
              </a:ext>
            </a:extLst>
          </p:cNvPr>
          <p:cNvSpPr>
            <a:spLocks noGrp="1"/>
          </p:cNvSpPr>
          <p:nvPr>
            <p:ph type="subTitle" idx="1"/>
          </p:nvPr>
        </p:nvSpPr>
        <p:spPr>
          <a:xfrm>
            <a:off x="1154955" y="708656"/>
            <a:ext cx="9144000" cy="858981"/>
          </a:xfrm>
        </p:spPr>
        <p:txBody>
          <a:bodyPr>
            <a:normAutofit/>
          </a:bodyPr>
          <a:lstStyle/>
          <a:p>
            <a:r>
              <a:rPr lang="en-US" sz="3200" dirty="0" err="1"/>
              <a:t>StreetIQ</a:t>
            </a:r>
            <a:r>
              <a:rPr lang="en-US" sz="3200" dirty="0"/>
              <a:t> – </a:t>
            </a:r>
            <a:r>
              <a:rPr lang="bg-BG" sz="3200" dirty="0"/>
              <a:t>интелигентни на пътя</a:t>
            </a:r>
          </a:p>
        </p:txBody>
      </p:sp>
      <p:sp>
        <p:nvSpPr>
          <p:cNvPr id="5" name="TextBox 4">
            <a:extLst>
              <a:ext uri="{FF2B5EF4-FFF2-40B4-BE49-F238E27FC236}">
                <a16:creationId xmlns:a16="http://schemas.microsoft.com/office/drawing/2014/main" id="{40A734FB-BE70-BC81-2795-6A84348A07C5}"/>
              </a:ext>
            </a:extLst>
          </p:cNvPr>
          <p:cNvSpPr txBox="1"/>
          <p:nvPr/>
        </p:nvSpPr>
        <p:spPr>
          <a:xfrm>
            <a:off x="515711" y="5087034"/>
            <a:ext cx="8991600" cy="646331"/>
          </a:xfrm>
          <a:prstGeom prst="rect">
            <a:avLst/>
          </a:prstGeom>
          <a:noFill/>
        </p:spPr>
        <p:txBody>
          <a:bodyPr wrap="square">
            <a:spAutoFit/>
          </a:bodyPr>
          <a:lstStyle/>
          <a:p>
            <a:pPr algn="ctr"/>
            <a:r>
              <a:rPr lang="bg-BG" sz="3600" dirty="0"/>
              <a:t>по учебната програма за 6</a:t>
            </a:r>
            <a:r>
              <a:rPr lang="en-US" sz="3600"/>
              <a:t>.</a:t>
            </a:r>
            <a:r>
              <a:rPr lang="bg-BG" sz="3600"/>
              <a:t> </a:t>
            </a:r>
            <a:r>
              <a:rPr lang="bg-BG" sz="3600" dirty="0"/>
              <a:t>клас</a:t>
            </a:r>
            <a:endParaRPr lang="en-US" sz="3600" dirty="0"/>
          </a:p>
        </p:txBody>
      </p:sp>
    </p:spTree>
    <p:extLst>
      <p:ext uri="{BB962C8B-B14F-4D97-AF65-F5344CB8AC3E}">
        <p14:creationId xmlns:p14="http://schemas.microsoft.com/office/powerpoint/2010/main" val="1224495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8E931E-58A9-ED8D-66B8-3E3D544B4B0A}"/>
              </a:ext>
            </a:extLst>
          </p:cNvPr>
          <p:cNvSpPr>
            <a:spLocks noGrp="1"/>
          </p:cNvSpPr>
          <p:nvPr>
            <p:ph idx="1"/>
          </p:nvPr>
        </p:nvSpPr>
        <p:spPr>
          <a:xfrm>
            <a:off x="408275" y="2681040"/>
            <a:ext cx="5925310" cy="2949739"/>
          </a:xfrm>
        </p:spPr>
        <p:txBody>
          <a:bodyPr>
            <a:noAutofit/>
          </a:bodyPr>
          <a:lstStyle/>
          <a:p>
            <a:pPr marL="0" indent="0" algn="ctr">
              <a:buNone/>
            </a:pPr>
            <a:r>
              <a:rPr lang="ru-RU" sz="2400" dirty="0" err="1">
                <a:latin typeface="+mn-lt"/>
              </a:rPr>
              <a:t>Пътната</a:t>
            </a:r>
            <a:r>
              <a:rPr lang="ru-RU" sz="2400" dirty="0">
                <a:latin typeface="+mn-lt"/>
              </a:rPr>
              <a:t> мрежа </a:t>
            </a:r>
            <a:r>
              <a:rPr lang="ru-RU" sz="2400" dirty="0" err="1">
                <a:latin typeface="+mn-lt"/>
              </a:rPr>
              <a:t>свързва</a:t>
            </a:r>
            <a:r>
              <a:rPr lang="ru-RU" sz="2400" dirty="0">
                <a:latin typeface="+mn-lt"/>
              </a:rPr>
              <a:t> </a:t>
            </a:r>
            <a:r>
              <a:rPr lang="ru-RU" sz="2400" dirty="0" err="1">
                <a:latin typeface="+mn-lt"/>
              </a:rPr>
              <a:t>всички</a:t>
            </a:r>
            <a:r>
              <a:rPr lang="ru-RU" sz="2400" dirty="0">
                <a:latin typeface="+mn-lt"/>
              </a:rPr>
              <a:t> </a:t>
            </a:r>
            <a:r>
              <a:rPr lang="ru-RU" sz="2400" dirty="0" err="1">
                <a:latin typeface="+mn-lt"/>
              </a:rPr>
              <a:t>населени</a:t>
            </a:r>
            <a:r>
              <a:rPr lang="ru-RU" sz="2400" dirty="0">
                <a:latin typeface="+mn-lt"/>
              </a:rPr>
              <a:t> места, </a:t>
            </a:r>
            <a:r>
              <a:rPr lang="ru-RU" sz="2400" dirty="0" err="1">
                <a:latin typeface="+mn-lt"/>
              </a:rPr>
              <a:t>като</a:t>
            </a:r>
            <a:r>
              <a:rPr lang="ru-RU" sz="2400" dirty="0">
                <a:latin typeface="+mn-lt"/>
              </a:rPr>
              <a:t> най-</a:t>
            </a:r>
            <a:r>
              <a:rPr lang="ru-RU" sz="2400" dirty="0" err="1">
                <a:latin typeface="+mn-lt"/>
              </a:rPr>
              <a:t>безопасни</a:t>
            </a:r>
            <a:r>
              <a:rPr lang="ru-RU" sz="2400" dirty="0">
                <a:latin typeface="+mn-lt"/>
              </a:rPr>
              <a:t> </a:t>
            </a:r>
            <a:r>
              <a:rPr lang="ru-RU" sz="2400" dirty="0" err="1">
                <a:latin typeface="+mn-lt"/>
              </a:rPr>
              <a:t>са</a:t>
            </a:r>
            <a:r>
              <a:rPr lang="ru-RU" sz="2400" dirty="0">
                <a:latin typeface="+mn-lt"/>
              </a:rPr>
              <a:t> </a:t>
            </a:r>
            <a:r>
              <a:rPr lang="ru-RU" sz="2400" dirty="0" err="1">
                <a:latin typeface="+mn-lt"/>
              </a:rPr>
              <a:t>автомагистралите</a:t>
            </a:r>
            <a:r>
              <a:rPr lang="ru-RU" sz="2400" dirty="0">
                <a:latin typeface="+mn-lt"/>
              </a:rPr>
              <a:t>, </a:t>
            </a:r>
            <a:r>
              <a:rPr lang="ru-RU" sz="2400" dirty="0" err="1">
                <a:latin typeface="+mn-lt"/>
              </a:rPr>
              <a:t>защото</a:t>
            </a:r>
            <a:r>
              <a:rPr lang="ru-RU" sz="2400" dirty="0">
                <a:latin typeface="+mn-lt"/>
              </a:rPr>
              <a:t> </a:t>
            </a:r>
            <a:r>
              <a:rPr lang="ru-RU" sz="2400" dirty="0" err="1">
                <a:latin typeface="+mn-lt"/>
              </a:rPr>
              <a:t>нямат</a:t>
            </a:r>
            <a:r>
              <a:rPr lang="ru-RU" sz="2400" dirty="0">
                <a:latin typeface="+mn-lt"/>
              </a:rPr>
              <a:t> </a:t>
            </a:r>
            <a:r>
              <a:rPr lang="ru-RU" sz="2400" dirty="0" err="1">
                <a:latin typeface="+mn-lt"/>
              </a:rPr>
              <a:t>кръстовища</a:t>
            </a:r>
            <a:r>
              <a:rPr lang="ru-RU" sz="2400" dirty="0">
                <a:latin typeface="+mn-lt"/>
              </a:rPr>
              <a:t> и </a:t>
            </a:r>
            <a:r>
              <a:rPr lang="ru-RU" sz="2400" dirty="0" err="1">
                <a:latin typeface="+mn-lt"/>
              </a:rPr>
              <a:t>насрещно</a:t>
            </a:r>
            <a:r>
              <a:rPr lang="ru-RU" sz="2400" dirty="0">
                <a:latin typeface="+mn-lt"/>
              </a:rPr>
              <a:t> движение. При </a:t>
            </a:r>
            <a:r>
              <a:rPr lang="ru-RU" sz="2400" dirty="0" err="1">
                <a:latin typeface="+mn-lt"/>
              </a:rPr>
              <a:t>останалите</a:t>
            </a:r>
            <a:r>
              <a:rPr lang="ru-RU" sz="2400" dirty="0">
                <a:latin typeface="+mn-lt"/>
              </a:rPr>
              <a:t> </a:t>
            </a:r>
            <a:r>
              <a:rPr lang="ru-RU" sz="2400" dirty="0" err="1">
                <a:latin typeface="+mn-lt"/>
              </a:rPr>
              <a:t>пътища</a:t>
            </a:r>
            <a:r>
              <a:rPr lang="ru-RU" sz="2400" dirty="0">
                <a:latin typeface="+mn-lt"/>
              </a:rPr>
              <a:t> </a:t>
            </a:r>
            <a:r>
              <a:rPr lang="ru-RU" sz="2400" dirty="0" err="1">
                <a:latin typeface="+mn-lt"/>
              </a:rPr>
              <a:t>рисковете</a:t>
            </a:r>
            <a:r>
              <a:rPr lang="ru-RU" sz="2400" dirty="0">
                <a:latin typeface="+mn-lt"/>
              </a:rPr>
              <a:t> </a:t>
            </a:r>
            <a:r>
              <a:rPr lang="ru-RU" sz="2400" dirty="0" err="1">
                <a:latin typeface="+mn-lt"/>
              </a:rPr>
              <a:t>са</a:t>
            </a:r>
            <a:r>
              <a:rPr lang="ru-RU" sz="2400" dirty="0">
                <a:latin typeface="+mn-lt"/>
              </a:rPr>
              <a:t> </a:t>
            </a:r>
            <a:r>
              <a:rPr lang="ru-RU" sz="2400" dirty="0" err="1">
                <a:latin typeface="+mn-lt"/>
              </a:rPr>
              <a:t>по-големи</a:t>
            </a:r>
            <a:r>
              <a:rPr lang="ru-RU" sz="2400" dirty="0">
                <a:latin typeface="+mn-lt"/>
              </a:rPr>
              <a:t> </a:t>
            </a:r>
            <a:r>
              <a:rPr lang="ru-RU" sz="2400" dirty="0" err="1">
                <a:latin typeface="+mn-lt"/>
              </a:rPr>
              <a:t>заради</a:t>
            </a:r>
            <a:r>
              <a:rPr lang="ru-RU" sz="2400" dirty="0">
                <a:latin typeface="+mn-lt"/>
              </a:rPr>
              <a:t> </a:t>
            </a:r>
            <a:r>
              <a:rPr lang="ru-RU" sz="2400" dirty="0" err="1">
                <a:latin typeface="+mn-lt"/>
              </a:rPr>
              <a:t>по-тесните</a:t>
            </a:r>
            <a:r>
              <a:rPr lang="ru-RU" sz="2400" dirty="0">
                <a:latin typeface="+mn-lt"/>
              </a:rPr>
              <a:t> платна и </a:t>
            </a:r>
            <a:r>
              <a:rPr lang="ru-RU" sz="2400" dirty="0" err="1">
                <a:latin typeface="+mn-lt"/>
              </a:rPr>
              <a:t>присъствието</a:t>
            </a:r>
            <a:r>
              <a:rPr lang="ru-RU" sz="2400" dirty="0">
                <a:latin typeface="+mn-lt"/>
              </a:rPr>
              <a:t> на </a:t>
            </a:r>
            <a:r>
              <a:rPr lang="ru-RU" sz="2400" dirty="0" err="1">
                <a:latin typeface="+mn-lt"/>
              </a:rPr>
              <a:t>пешеходци</a:t>
            </a:r>
            <a:r>
              <a:rPr lang="ru-RU" sz="2400" dirty="0">
                <a:latin typeface="+mn-lt"/>
              </a:rPr>
              <a:t> или </a:t>
            </a:r>
            <a:r>
              <a:rPr lang="ru-RU" sz="2400" dirty="0" err="1">
                <a:latin typeface="+mn-lt"/>
              </a:rPr>
              <a:t>велосипедисти</a:t>
            </a:r>
            <a:r>
              <a:rPr lang="ru-RU" sz="2400" dirty="0">
                <a:latin typeface="+mn-lt"/>
              </a:rPr>
              <a:t>.</a:t>
            </a:r>
            <a:endParaRPr lang="bg-BG" sz="2400" dirty="0">
              <a:latin typeface="+mn-lt"/>
            </a:endParaRPr>
          </a:p>
        </p:txBody>
      </p:sp>
      <p:sp>
        <p:nvSpPr>
          <p:cNvPr id="8" name="TextBox 7">
            <a:extLst>
              <a:ext uri="{FF2B5EF4-FFF2-40B4-BE49-F238E27FC236}">
                <a16:creationId xmlns:a16="http://schemas.microsoft.com/office/drawing/2014/main" id="{9D13A953-4541-B272-4BD3-32346CC2F84C}"/>
              </a:ext>
            </a:extLst>
          </p:cNvPr>
          <p:cNvSpPr txBox="1"/>
          <p:nvPr/>
        </p:nvSpPr>
        <p:spPr>
          <a:xfrm>
            <a:off x="408275" y="1015043"/>
            <a:ext cx="5925310" cy="1200329"/>
          </a:xfrm>
          <a:prstGeom prst="rect">
            <a:avLst/>
          </a:prstGeom>
          <a:noFill/>
        </p:spPr>
        <p:txBody>
          <a:bodyPr wrap="square" rtlCol="0">
            <a:spAutoFit/>
          </a:bodyPr>
          <a:lstStyle/>
          <a:p>
            <a:pPr algn="ctr"/>
            <a:r>
              <a:rPr lang="ru-RU" sz="3600" dirty="0">
                <a:latin typeface="+mj-lt"/>
              </a:rPr>
              <a:t>Видове </a:t>
            </a:r>
            <a:r>
              <a:rPr lang="ru-RU" sz="3600" dirty="0" err="1">
                <a:latin typeface="+mj-lt"/>
              </a:rPr>
              <a:t>пътища</a:t>
            </a:r>
            <a:r>
              <a:rPr lang="ru-RU" sz="3600" dirty="0">
                <a:latin typeface="+mj-lt"/>
              </a:rPr>
              <a:t> и </a:t>
            </a:r>
            <a:r>
              <a:rPr lang="ru-RU" sz="3600" dirty="0" err="1">
                <a:latin typeface="+mj-lt"/>
              </a:rPr>
              <a:t>пътна</a:t>
            </a:r>
            <a:r>
              <a:rPr lang="ru-RU" sz="3600" dirty="0">
                <a:latin typeface="+mj-lt"/>
              </a:rPr>
              <a:t> мрежа в </a:t>
            </a:r>
            <a:r>
              <a:rPr lang="ru-RU" sz="3600" dirty="0" err="1">
                <a:latin typeface="+mj-lt"/>
              </a:rPr>
              <a:t>България</a:t>
            </a:r>
            <a:endParaRPr lang="en-US" sz="3600" dirty="0">
              <a:latin typeface="+mj-lt"/>
            </a:endParaRPr>
          </a:p>
        </p:txBody>
      </p:sp>
      <p:pic>
        <p:nvPicPr>
          <p:cNvPr id="2050" name="Picture 2" descr="Републиканска пътна мрежа на България – Уикипедия">
            <a:extLst>
              <a:ext uri="{FF2B5EF4-FFF2-40B4-BE49-F238E27FC236}">
                <a16:creationId xmlns:a16="http://schemas.microsoft.com/office/drawing/2014/main" id="{F601BD95-7147-5A04-452C-20848D523A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1591" y="2437988"/>
            <a:ext cx="5404307" cy="3415522"/>
          </a:xfrm>
          <a:prstGeom prst="rect">
            <a:avLst/>
          </a:prstGeom>
          <a:ln w="38100" cap="sq">
            <a:no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3840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8E931E-58A9-ED8D-66B8-3E3D544B4B0A}"/>
              </a:ext>
            </a:extLst>
          </p:cNvPr>
          <p:cNvSpPr>
            <a:spLocks noGrp="1"/>
          </p:cNvSpPr>
          <p:nvPr>
            <p:ph idx="1"/>
          </p:nvPr>
        </p:nvSpPr>
        <p:spPr>
          <a:xfrm>
            <a:off x="408275" y="2681040"/>
            <a:ext cx="5925310" cy="3900735"/>
          </a:xfrm>
        </p:spPr>
        <p:txBody>
          <a:bodyPr>
            <a:noAutofit/>
          </a:bodyPr>
          <a:lstStyle/>
          <a:p>
            <a:pPr marL="0" indent="0" algn="ctr">
              <a:buNone/>
            </a:pPr>
            <a:r>
              <a:rPr lang="ru-RU" sz="2000" dirty="0"/>
              <a:t>В </a:t>
            </a:r>
            <a:r>
              <a:rPr lang="ru-RU" sz="2000" dirty="0" err="1"/>
              <a:t>България</a:t>
            </a:r>
            <a:r>
              <a:rPr lang="ru-RU" sz="2000" dirty="0"/>
              <a:t> </a:t>
            </a:r>
            <a:r>
              <a:rPr lang="ru-RU" sz="2000" dirty="0" err="1"/>
              <a:t>пътната</a:t>
            </a:r>
            <a:r>
              <a:rPr lang="ru-RU" sz="2000" dirty="0"/>
              <a:t> мрежа е </a:t>
            </a:r>
            <a:r>
              <a:rPr lang="ru-RU" sz="2000" dirty="0" err="1"/>
              <a:t>организирана</a:t>
            </a:r>
            <a:r>
              <a:rPr lang="ru-RU" sz="2000" dirty="0"/>
              <a:t> в ясна </a:t>
            </a:r>
            <a:r>
              <a:rPr lang="ru-RU" sz="2000" dirty="0" err="1"/>
              <a:t>йерархия</a:t>
            </a:r>
            <a:r>
              <a:rPr lang="ru-RU" sz="2000" dirty="0"/>
              <a:t>, </a:t>
            </a:r>
            <a:r>
              <a:rPr lang="ru-RU" sz="2000" dirty="0" err="1"/>
              <a:t>като</a:t>
            </a:r>
            <a:r>
              <a:rPr lang="ru-RU" sz="2000" dirty="0"/>
              <a:t> всяка категория </a:t>
            </a:r>
            <a:r>
              <a:rPr lang="ru-RU" sz="2000" dirty="0" err="1"/>
              <a:t>има</a:t>
            </a:r>
            <a:r>
              <a:rPr lang="ru-RU" sz="2000" dirty="0"/>
              <a:t> </a:t>
            </a:r>
            <a:r>
              <a:rPr lang="ru-RU" sz="2000" dirty="0" err="1"/>
              <a:t>специфични</a:t>
            </a:r>
            <a:r>
              <a:rPr lang="ru-RU" sz="2000" dirty="0"/>
              <a:t> характеристики, </a:t>
            </a:r>
            <a:r>
              <a:rPr lang="ru-RU" sz="2000" dirty="0" err="1"/>
              <a:t>влияещи</a:t>
            </a:r>
            <a:r>
              <a:rPr lang="ru-RU" sz="2000" dirty="0"/>
              <a:t> </a:t>
            </a:r>
            <a:r>
              <a:rPr lang="ru-RU" sz="2000" dirty="0" err="1"/>
              <a:t>директно</a:t>
            </a:r>
            <a:r>
              <a:rPr lang="ru-RU" sz="2000" dirty="0"/>
              <a:t> </a:t>
            </a:r>
            <a:r>
              <a:rPr lang="ru-RU" sz="2000" dirty="0" err="1"/>
              <a:t>върху</a:t>
            </a:r>
            <a:r>
              <a:rPr lang="ru-RU" sz="2000" dirty="0"/>
              <a:t> </a:t>
            </a:r>
            <a:r>
              <a:rPr lang="ru-RU" sz="2000" b="1" dirty="0" err="1"/>
              <a:t>безопасността</a:t>
            </a:r>
            <a:r>
              <a:rPr lang="ru-RU" sz="2000" b="1" dirty="0"/>
              <a:t> на </a:t>
            </a:r>
            <a:r>
              <a:rPr lang="ru-RU" sz="2000" b="1" dirty="0" err="1"/>
              <a:t>движението</a:t>
            </a:r>
            <a:r>
              <a:rPr lang="ru-RU" sz="2000" b="1" dirty="0"/>
              <a:t> (БД)</a:t>
            </a:r>
            <a:r>
              <a:rPr lang="ru-RU" sz="2000" dirty="0"/>
              <a:t>.</a:t>
            </a:r>
          </a:p>
          <a:p>
            <a:pPr marL="0" indent="0" algn="ctr">
              <a:buNone/>
            </a:pPr>
            <a:r>
              <a:rPr lang="ru-RU" sz="2000" dirty="0"/>
              <a:t>Статистически, </a:t>
            </a:r>
            <a:r>
              <a:rPr lang="ru-RU" sz="2000" dirty="0" err="1"/>
              <a:t>въпреки</a:t>
            </a:r>
            <a:r>
              <a:rPr lang="ru-RU" sz="2000" dirty="0"/>
              <a:t> </a:t>
            </a:r>
            <a:r>
              <a:rPr lang="ru-RU" sz="2000" dirty="0" err="1"/>
              <a:t>високата</a:t>
            </a:r>
            <a:r>
              <a:rPr lang="ru-RU" sz="2000" dirty="0"/>
              <a:t> </a:t>
            </a:r>
            <a:r>
              <a:rPr lang="ru-RU" sz="2000" dirty="0" err="1"/>
              <a:t>скорост</a:t>
            </a:r>
            <a:r>
              <a:rPr lang="ru-RU" sz="2000" dirty="0"/>
              <a:t> на </a:t>
            </a:r>
            <a:r>
              <a:rPr lang="ru-RU" sz="2000" dirty="0" err="1"/>
              <a:t>магистралите</a:t>
            </a:r>
            <a:r>
              <a:rPr lang="ru-RU" sz="2000" dirty="0"/>
              <a:t>, </a:t>
            </a:r>
            <a:r>
              <a:rPr lang="ru-RU" sz="2000" dirty="0" err="1"/>
              <a:t>броят</a:t>
            </a:r>
            <a:r>
              <a:rPr lang="ru-RU" sz="2000" dirty="0"/>
              <a:t> на </a:t>
            </a:r>
            <a:r>
              <a:rPr lang="ru-RU" sz="2000" dirty="0" err="1"/>
              <a:t>тежките</a:t>
            </a:r>
            <a:r>
              <a:rPr lang="ru-RU" sz="2000" dirty="0"/>
              <a:t> </a:t>
            </a:r>
            <a:r>
              <a:rPr lang="ru-RU" sz="2000" dirty="0" err="1"/>
              <a:t>инциденти</a:t>
            </a:r>
            <a:r>
              <a:rPr lang="ru-RU" sz="2000" dirty="0"/>
              <a:t> на 100 км е </a:t>
            </a:r>
            <a:r>
              <a:rPr lang="ru-RU" sz="2000" dirty="0" err="1"/>
              <a:t>значително</a:t>
            </a:r>
            <a:r>
              <a:rPr lang="ru-RU" sz="2000" dirty="0"/>
              <a:t> </a:t>
            </a:r>
            <a:r>
              <a:rPr lang="ru-RU" sz="2000" dirty="0" err="1"/>
              <a:t>по-нисък</a:t>
            </a:r>
            <a:r>
              <a:rPr lang="ru-RU" sz="2000" dirty="0"/>
              <a:t> в сравнение с </a:t>
            </a:r>
            <a:r>
              <a:rPr lang="ru-RU" sz="2000" dirty="0" err="1"/>
              <a:t>първокласните</a:t>
            </a:r>
            <a:r>
              <a:rPr lang="ru-RU" sz="2000" dirty="0"/>
              <a:t> </a:t>
            </a:r>
            <a:r>
              <a:rPr lang="ru-RU" sz="2000" dirty="0" err="1"/>
              <a:t>пътища</a:t>
            </a:r>
            <a:r>
              <a:rPr lang="ru-RU" sz="2000" dirty="0"/>
              <a:t>, </a:t>
            </a:r>
            <a:r>
              <a:rPr lang="ru-RU" sz="2000" dirty="0" err="1"/>
              <a:t>където</a:t>
            </a:r>
            <a:r>
              <a:rPr lang="ru-RU" sz="2000" dirty="0"/>
              <a:t> </a:t>
            </a:r>
            <a:r>
              <a:rPr lang="ru-RU" sz="2000" dirty="0" err="1"/>
              <a:t>основните</a:t>
            </a:r>
            <a:r>
              <a:rPr lang="ru-RU" sz="2000" dirty="0"/>
              <a:t> причини за фатален край </a:t>
            </a:r>
            <a:r>
              <a:rPr lang="ru-RU" sz="2000" dirty="0" err="1"/>
              <a:t>са</a:t>
            </a:r>
            <a:r>
              <a:rPr lang="ru-RU" sz="2000" dirty="0"/>
              <a:t> </a:t>
            </a:r>
            <a:r>
              <a:rPr lang="ru-RU" sz="2000" b="1" dirty="0" err="1"/>
              <a:t>челните</a:t>
            </a:r>
            <a:r>
              <a:rPr lang="ru-RU" sz="2000" b="1" dirty="0"/>
              <a:t> </a:t>
            </a:r>
            <a:r>
              <a:rPr lang="ru-RU" sz="2000" b="1" dirty="0" err="1"/>
              <a:t>сблъсъци</a:t>
            </a:r>
            <a:r>
              <a:rPr lang="ru-RU" sz="2000" dirty="0"/>
              <a:t> и </a:t>
            </a:r>
            <a:r>
              <a:rPr lang="ru-RU" sz="2000" b="1" dirty="0"/>
              <a:t>ударите с </a:t>
            </a:r>
            <a:r>
              <a:rPr lang="ru-RU" sz="2000" b="1" dirty="0" err="1"/>
              <a:t>пешеходци</a:t>
            </a:r>
            <a:r>
              <a:rPr lang="ru-RU" sz="2000" dirty="0"/>
              <a:t>.</a:t>
            </a:r>
            <a:endParaRPr lang="bg-BG" sz="2400" dirty="0">
              <a:latin typeface="Georgia" panose="02040502050405020303" pitchFamily="18" charset="0"/>
            </a:endParaRPr>
          </a:p>
        </p:txBody>
      </p:sp>
      <p:sp>
        <p:nvSpPr>
          <p:cNvPr id="8" name="TextBox 7">
            <a:extLst>
              <a:ext uri="{FF2B5EF4-FFF2-40B4-BE49-F238E27FC236}">
                <a16:creationId xmlns:a16="http://schemas.microsoft.com/office/drawing/2014/main" id="{9D13A953-4541-B272-4BD3-32346CC2F84C}"/>
              </a:ext>
            </a:extLst>
          </p:cNvPr>
          <p:cNvSpPr txBox="1"/>
          <p:nvPr/>
        </p:nvSpPr>
        <p:spPr>
          <a:xfrm>
            <a:off x="408275" y="1015043"/>
            <a:ext cx="5925310" cy="1200329"/>
          </a:xfrm>
          <a:prstGeom prst="rect">
            <a:avLst/>
          </a:prstGeom>
          <a:noFill/>
        </p:spPr>
        <p:txBody>
          <a:bodyPr wrap="square" rtlCol="0">
            <a:spAutoFit/>
          </a:bodyPr>
          <a:lstStyle/>
          <a:p>
            <a:pPr algn="ctr"/>
            <a:r>
              <a:rPr lang="ru-RU" sz="3600" dirty="0">
                <a:latin typeface="+mj-lt"/>
              </a:rPr>
              <a:t>Видове </a:t>
            </a:r>
            <a:r>
              <a:rPr lang="ru-RU" sz="3600" dirty="0" err="1">
                <a:latin typeface="+mj-lt"/>
              </a:rPr>
              <a:t>пътища</a:t>
            </a:r>
            <a:r>
              <a:rPr lang="ru-RU" sz="3600" dirty="0">
                <a:latin typeface="+mj-lt"/>
              </a:rPr>
              <a:t> и </a:t>
            </a:r>
            <a:r>
              <a:rPr lang="ru-RU" sz="3600" dirty="0" err="1">
                <a:latin typeface="+mj-lt"/>
              </a:rPr>
              <a:t>пътна</a:t>
            </a:r>
            <a:r>
              <a:rPr lang="ru-RU" sz="3600" dirty="0">
                <a:latin typeface="+mj-lt"/>
              </a:rPr>
              <a:t> мрежа в </a:t>
            </a:r>
            <a:r>
              <a:rPr lang="ru-RU" sz="3600" dirty="0" err="1">
                <a:latin typeface="+mj-lt"/>
              </a:rPr>
              <a:t>България</a:t>
            </a:r>
            <a:endParaRPr lang="en-US" sz="3600" dirty="0">
              <a:latin typeface="+mj-lt"/>
            </a:endParaRPr>
          </a:p>
        </p:txBody>
      </p:sp>
      <p:pic>
        <p:nvPicPr>
          <p:cNvPr id="4098" name="Picture 2" descr="ПТП в България и Европа - WeKnowTheLaw - Помощ при ПТП">
            <a:extLst>
              <a:ext uri="{FF2B5EF4-FFF2-40B4-BE49-F238E27FC236}">
                <a16:creationId xmlns:a16="http://schemas.microsoft.com/office/drawing/2014/main" id="{F635C9E5-1686-F845-013A-574D52B0CB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7603" y="3087604"/>
            <a:ext cx="4882896" cy="2543175"/>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7795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8E931E-58A9-ED8D-66B8-3E3D544B4B0A}"/>
              </a:ext>
            </a:extLst>
          </p:cNvPr>
          <p:cNvSpPr>
            <a:spLocks noGrp="1"/>
          </p:cNvSpPr>
          <p:nvPr>
            <p:ph idx="1"/>
          </p:nvPr>
        </p:nvSpPr>
        <p:spPr>
          <a:xfrm>
            <a:off x="408275" y="1589797"/>
            <a:ext cx="6506876" cy="5072310"/>
          </a:xfrm>
        </p:spPr>
        <p:txBody>
          <a:bodyPr>
            <a:noAutofit/>
          </a:bodyPr>
          <a:lstStyle/>
          <a:p>
            <a:r>
              <a:rPr lang="ru-RU" dirty="0" err="1"/>
              <a:t>Това</a:t>
            </a:r>
            <a:r>
              <a:rPr lang="ru-RU" dirty="0"/>
              <a:t> </a:t>
            </a:r>
            <a:r>
              <a:rPr lang="ru-RU" dirty="0" err="1"/>
              <a:t>са</a:t>
            </a:r>
            <a:r>
              <a:rPr lang="ru-RU" dirty="0"/>
              <a:t> най-</a:t>
            </a:r>
            <a:r>
              <a:rPr lang="ru-RU" dirty="0" err="1"/>
              <a:t>безопасните</a:t>
            </a:r>
            <a:r>
              <a:rPr lang="ru-RU" dirty="0"/>
              <a:t> </a:t>
            </a:r>
            <a:r>
              <a:rPr lang="ru-RU" dirty="0" err="1"/>
              <a:t>пътища</a:t>
            </a:r>
            <a:r>
              <a:rPr lang="ru-RU" dirty="0"/>
              <a:t> </a:t>
            </a:r>
            <a:r>
              <a:rPr lang="ru-RU" dirty="0" err="1"/>
              <a:t>поради</a:t>
            </a:r>
            <a:r>
              <a:rPr lang="ru-RU" dirty="0"/>
              <a:t> </a:t>
            </a:r>
            <a:r>
              <a:rPr lang="ru-RU" dirty="0" err="1"/>
              <a:t>пълното</a:t>
            </a:r>
            <a:r>
              <a:rPr lang="ru-RU" dirty="0"/>
              <a:t> </a:t>
            </a:r>
            <a:r>
              <a:rPr lang="ru-RU" dirty="0" err="1"/>
              <a:t>отделяне</a:t>
            </a:r>
            <a:r>
              <a:rPr lang="ru-RU" dirty="0"/>
              <a:t> на </a:t>
            </a:r>
            <a:r>
              <a:rPr lang="ru-RU" dirty="0" err="1"/>
              <a:t>потоците</a:t>
            </a:r>
            <a:r>
              <a:rPr lang="ru-RU" dirty="0"/>
              <a:t> и </a:t>
            </a:r>
            <a:r>
              <a:rPr lang="ru-RU" dirty="0" err="1"/>
              <a:t>липсата</a:t>
            </a:r>
            <a:r>
              <a:rPr lang="ru-RU" dirty="0"/>
              <a:t> на </a:t>
            </a:r>
            <a:r>
              <a:rPr lang="ru-RU" dirty="0" err="1"/>
              <a:t>конфликтни</a:t>
            </a:r>
            <a:r>
              <a:rPr lang="ru-RU" dirty="0"/>
              <a:t> точки.</a:t>
            </a:r>
          </a:p>
          <a:p>
            <a:pPr>
              <a:buFont typeface="Arial" panose="020B0604020202020204" pitchFamily="34" charset="0"/>
              <a:buChar char="•"/>
            </a:pPr>
            <a:r>
              <a:rPr lang="ru-RU" b="1" dirty="0"/>
              <a:t>Контрол на </a:t>
            </a:r>
            <a:r>
              <a:rPr lang="ru-RU" b="1" dirty="0" err="1"/>
              <a:t>достъпа</a:t>
            </a:r>
            <a:r>
              <a:rPr lang="ru-RU" b="1" dirty="0"/>
              <a:t>:</a:t>
            </a:r>
            <a:r>
              <a:rPr lang="ru-RU" dirty="0"/>
              <a:t> </a:t>
            </a:r>
            <a:r>
              <a:rPr lang="ru-RU" dirty="0" err="1"/>
              <a:t>Напълно</a:t>
            </a:r>
            <a:r>
              <a:rPr lang="ru-RU" dirty="0"/>
              <a:t> ограничен. </a:t>
            </a:r>
            <a:r>
              <a:rPr lang="ru-RU" dirty="0" err="1"/>
              <a:t>Няма</a:t>
            </a:r>
            <a:r>
              <a:rPr lang="ru-RU" dirty="0"/>
              <a:t> </a:t>
            </a:r>
            <a:r>
              <a:rPr lang="ru-RU" dirty="0" err="1"/>
              <a:t>пресичане</a:t>
            </a:r>
            <a:r>
              <a:rPr lang="ru-RU" dirty="0"/>
              <a:t> на </a:t>
            </a:r>
            <a:r>
              <a:rPr lang="ru-RU" dirty="0" err="1"/>
              <a:t>едно</a:t>
            </a:r>
            <a:r>
              <a:rPr lang="ru-RU" dirty="0"/>
              <a:t> </a:t>
            </a:r>
            <a:r>
              <a:rPr lang="ru-RU" dirty="0" err="1"/>
              <a:t>ниво</a:t>
            </a:r>
            <a:r>
              <a:rPr lang="ru-RU" dirty="0"/>
              <a:t>, </a:t>
            </a:r>
            <a:r>
              <a:rPr lang="ru-RU" dirty="0" err="1"/>
              <a:t>което</a:t>
            </a:r>
            <a:r>
              <a:rPr lang="ru-RU" dirty="0"/>
              <a:t> </a:t>
            </a:r>
            <a:r>
              <a:rPr lang="ru-RU" dirty="0" err="1"/>
              <a:t>елиминира</a:t>
            </a:r>
            <a:r>
              <a:rPr lang="ru-RU" dirty="0"/>
              <a:t> риска от </a:t>
            </a:r>
            <a:r>
              <a:rPr lang="ru-RU" dirty="0" err="1"/>
              <a:t>странични</a:t>
            </a:r>
            <a:r>
              <a:rPr lang="ru-RU" dirty="0"/>
              <a:t> </a:t>
            </a:r>
            <a:r>
              <a:rPr lang="ru-RU" dirty="0" err="1"/>
              <a:t>удари</a:t>
            </a:r>
            <a:r>
              <a:rPr lang="ru-RU" dirty="0"/>
              <a:t>.</a:t>
            </a:r>
          </a:p>
          <a:p>
            <a:pPr>
              <a:buFont typeface="Arial" panose="020B0604020202020204" pitchFamily="34" charset="0"/>
              <a:buChar char="•"/>
            </a:pPr>
            <a:r>
              <a:rPr lang="ru-RU" b="1" dirty="0" err="1"/>
              <a:t>Разделителни</a:t>
            </a:r>
            <a:r>
              <a:rPr lang="ru-RU" b="1" dirty="0"/>
              <a:t> </a:t>
            </a:r>
            <a:r>
              <a:rPr lang="ru-RU" b="1" dirty="0" err="1"/>
              <a:t>ивици</a:t>
            </a:r>
            <a:r>
              <a:rPr lang="ru-RU" b="1" dirty="0"/>
              <a:t>:</a:t>
            </a:r>
            <a:r>
              <a:rPr lang="ru-RU" dirty="0"/>
              <a:t> </a:t>
            </a:r>
            <a:r>
              <a:rPr lang="ru-RU" dirty="0" err="1"/>
              <a:t>Задължителни</a:t>
            </a:r>
            <a:r>
              <a:rPr lang="ru-RU" dirty="0"/>
              <a:t> </a:t>
            </a:r>
            <a:r>
              <a:rPr lang="ru-RU" dirty="0" err="1"/>
              <a:t>средни</a:t>
            </a:r>
            <a:r>
              <a:rPr lang="ru-RU" dirty="0"/>
              <a:t> </a:t>
            </a:r>
            <a:r>
              <a:rPr lang="ru-RU" dirty="0" err="1"/>
              <a:t>разделителни</a:t>
            </a:r>
            <a:r>
              <a:rPr lang="ru-RU" dirty="0"/>
              <a:t> </a:t>
            </a:r>
            <a:r>
              <a:rPr lang="ru-RU" dirty="0" err="1"/>
              <a:t>ивици</a:t>
            </a:r>
            <a:r>
              <a:rPr lang="ru-RU" dirty="0"/>
              <a:t> с </a:t>
            </a:r>
            <a:r>
              <a:rPr lang="ru-RU" dirty="0" err="1"/>
              <a:t>мантинели</a:t>
            </a:r>
            <a:r>
              <a:rPr lang="ru-RU" dirty="0"/>
              <a:t>, </a:t>
            </a:r>
            <a:r>
              <a:rPr lang="ru-RU" dirty="0" err="1"/>
              <a:t>които</a:t>
            </a:r>
            <a:r>
              <a:rPr lang="ru-RU" dirty="0"/>
              <a:t> </a:t>
            </a:r>
            <a:r>
              <a:rPr lang="ru-RU" dirty="0" err="1"/>
              <a:t>предотвратяват</a:t>
            </a:r>
            <a:r>
              <a:rPr lang="ru-RU" dirty="0"/>
              <a:t> </a:t>
            </a:r>
            <a:r>
              <a:rPr lang="ru-RU" dirty="0" err="1"/>
              <a:t>челни</a:t>
            </a:r>
            <a:r>
              <a:rPr lang="ru-RU" dirty="0"/>
              <a:t> </a:t>
            </a:r>
            <a:r>
              <a:rPr lang="ru-RU" dirty="0" err="1"/>
              <a:t>сблъсъци</a:t>
            </a:r>
            <a:r>
              <a:rPr lang="ru-RU" dirty="0"/>
              <a:t>.</a:t>
            </a:r>
          </a:p>
          <a:p>
            <a:pPr>
              <a:buFont typeface="Arial" panose="020B0604020202020204" pitchFamily="34" charset="0"/>
              <a:buChar char="•"/>
            </a:pPr>
            <a:r>
              <a:rPr lang="ru-RU" b="1" dirty="0" err="1"/>
              <a:t>Активни</a:t>
            </a:r>
            <a:r>
              <a:rPr lang="ru-RU" b="1" dirty="0"/>
              <a:t> </a:t>
            </a:r>
            <a:r>
              <a:rPr lang="ru-RU" b="1" dirty="0" err="1"/>
              <a:t>ленти</a:t>
            </a:r>
            <a:r>
              <a:rPr lang="ru-RU" b="1" dirty="0"/>
              <a:t>:</a:t>
            </a:r>
            <a:r>
              <a:rPr lang="ru-RU" dirty="0"/>
              <a:t> </a:t>
            </a:r>
            <a:r>
              <a:rPr lang="ru-RU" dirty="0" err="1"/>
              <a:t>Поне</a:t>
            </a:r>
            <a:r>
              <a:rPr lang="ru-RU" dirty="0"/>
              <a:t> две </a:t>
            </a:r>
            <a:r>
              <a:rPr lang="ru-RU" dirty="0" err="1"/>
              <a:t>ленти</a:t>
            </a:r>
            <a:r>
              <a:rPr lang="ru-RU" dirty="0"/>
              <a:t> в </a:t>
            </a:r>
            <a:r>
              <a:rPr lang="ru-RU" dirty="0" err="1"/>
              <a:t>една</a:t>
            </a:r>
            <a:r>
              <a:rPr lang="ru-RU" dirty="0"/>
              <a:t> </a:t>
            </a:r>
            <a:r>
              <a:rPr lang="ru-RU" dirty="0" err="1"/>
              <a:t>посока</a:t>
            </a:r>
            <a:r>
              <a:rPr lang="ru-RU" dirty="0"/>
              <a:t> плюс лента за </a:t>
            </a:r>
            <a:r>
              <a:rPr lang="ru-RU" dirty="0" err="1"/>
              <a:t>принудително</a:t>
            </a:r>
            <a:r>
              <a:rPr lang="ru-RU" dirty="0"/>
              <a:t> </a:t>
            </a:r>
            <a:r>
              <a:rPr lang="ru-RU" dirty="0" err="1"/>
              <a:t>спиране</a:t>
            </a:r>
            <a:r>
              <a:rPr lang="ru-RU" dirty="0"/>
              <a:t> (при </a:t>
            </a:r>
            <a:r>
              <a:rPr lang="ru-RU" dirty="0" err="1"/>
              <a:t>магистралите</a:t>
            </a:r>
            <a:r>
              <a:rPr lang="ru-RU" dirty="0"/>
              <a:t>), </a:t>
            </a:r>
            <a:r>
              <a:rPr lang="ru-RU" dirty="0" err="1"/>
              <a:t>което</a:t>
            </a:r>
            <a:r>
              <a:rPr lang="ru-RU" dirty="0"/>
              <a:t> </a:t>
            </a:r>
            <a:r>
              <a:rPr lang="ru-RU" dirty="0" err="1"/>
              <a:t>намалява</a:t>
            </a:r>
            <a:r>
              <a:rPr lang="ru-RU" dirty="0"/>
              <a:t> риска при аварии.</a:t>
            </a:r>
          </a:p>
          <a:p>
            <a:pPr>
              <a:buFont typeface="Arial" panose="020B0604020202020204" pitchFamily="34" charset="0"/>
              <a:buChar char="•"/>
            </a:pPr>
            <a:r>
              <a:rPr lang="ru-RU" b="1" dirty="0" err="1"/>
              <a:t>Проектна</a:t>
            </a:r>
            <a:r>
              <a:rPr lang="ru-RU" b="1" dirty="0"/>
              <a:t> </a:t>
            </a:r>
            <a:r>
              <a:rPr lang="ru-RU" b="1" dirty="0" err="1"/>
              <a:t>скорост</a:t>
            </a:r>
            <a:r>
              <a:rPr lang="ru-RU" b="1" dirty="0"/>
              <a:t>:</a:t>
            </a:r>
            <a:r>
              <a:rPr lang="ru-RU" dirty="0"/>
              <a:t> </a:t>
            </a:r>
            <a:r>
              <a:rPr lang="ru-RU" dirty="0" err="1"/>
              <a:t>Висока</a:t>
            </a:r>
            <a:r>
              <a:rPr lang="ru-RU" dirty="0"/>
              <a:t>, но предвидима геометрия (плавни </a:t>
            </a:r>
            <a:r>
              <a:rPr lang="ru-RU" dirty="0" err="1"/>
              <a:t>завои</a:t>
            </a:r>
            <a:r>
              <a:rPr lang="ru-RU" dirty="0"/>
              <a:t> и наклони).</a:t>
            </a:r>
          </a:p>
        </p:txBody>
      </p:sp>
      <p:sp>
        <p:nvSpPr>
          <p:cNvPr id="8" name="TextBox 7">
            <a:extLst>
              <a:ext uri="{FF2B5EF4-FFF2-40B4-BE49-F238E27FC236}">
                <a16:creationId xmlns:a16="http://schemas.microsoft.com/office/drawing/2014/main" id="{9D13A953-4541-B272-4BD3-32346CC2F84C}"/>
              </a:ext>
            </a:extLst>
          </p:cNvPr>
          <p:cNvSpPr txBox="1"/>
          <p:nvPr/>
        </p:nvSpPr>
        <p:spPr>
          <a:xfrm>
            <a:off x="408274" y="195893"/>
            <a:ext cx="5925310" cy="1200329"/>
          </a:xfrm>
          <a:prstGeom prst="rect">
            <a:avLst/>
          </a:prstGeom>
          <a:noFill/>
        </p:spPr>
        <p:txBody>
          <a:bodyPr wrap="square" rtlCol="0">
            <a:spAutoFit/>
          </a:bodyPr>
          <a:lstStyle/>
          <a:p>
            <a:pPr algn="ctr"/>
            <a:r>
              <a:rPr lang="ru-RU" sz="3600" dirty="0"/>
              <a:t>1. Автомагистрали (А) и </a:t>
            </a:r>
            <a:r>
              <a:rPr lang="ru-RU" sz="3600" dirty="0" err="1"/>
              <a:t>Скоростни</a:t>
            </a:r>
            <a:r>
              <a:rPr lang="ru-RU" sz="3600" dirty="0"/>
              <a:t> </a:t>
            </a:r>
            <a:r>
              <a:rPr lang="ru-RU" sz="3600" dirty="0" err="1"/>
              <a:t>пътища</a:t>
            </a:r>
            <a:r>
              <a:rPr lang="ru-RU" sz="3600" dirty="0"/>
              <a:t> (СП)</a:t>
            </a:r>
            <a:endParaRPr lang="en-US" sz="3600" dirty="0">
              <a:latin typeface="Georgia" panose="02040502050405020303" pitchFamily="18" charset="0"/>
            </a:endParaRPr>
          </a:p>
        </p:txBody>
      </p:sp>
      <p:pic>
        <p:nvPicPr>
          <p:cNvPr id="1026" name="Picture 2" descr="Историята на магистрала „Тракия&quot;|DarikNews.bg">
            <a:extLst>
              <a:ext uri="{FF2B5EF4-FFF2-40B4-BE49-F238E27FC236}">
                <a16:creationId xmlns:a16="http://schemas.microsoft.com/office/drawing/2014/main" id="{9A9C1352-1A7C-9836-FA36-7865DAB7F5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6582" y="2697202"/>
            <a:ext cx="4717143" cy="3095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438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8E931E-58A9-ED8D-66B8-3E3D544B4B0A}"/>
              </a:ext>
            </a:extLst>
          </p:cNvPr>
          <p:cNvSpPr>
            <a:spLocks noGrp="1"/>
          </p:cNvSpPr>
          <p:nvPr>
            <p:ph idx="1"/>
          </p:nvPr>
        </p:nvSpPr>
        <p:spPr>
          <a:xfrm>
            <a:off x="408275" y="1589797"/>
            <a:ext cx="6506876" cy="5072310"/>
          </a:xfrm>
        </p:spPr>
        <p:txBody>
          <a:bodyPr>
            <a:noAutofit/>
          </a:bodyPr>
          <a:lstStyle/>
          <a:p>
            <a:r>
              <a:rPr lang="ru-RU" dirty="0"/>
              <a:t>Те </a:t>
            </a:r>
            <a:r>
              <a:rPr lang="ru-RU" dirty="0" err="1"/>
              <a:t>обслужват</a:t>
            </a:r>
            <a:r>
              <a:rPr lang="ru-RU" dirty="0"/>
              <a:t> </a:t>
            </a:r>
            <a:r>
              <a:rPr lang="ru-RU" dirty="0" err="1"/>
              <a:t>основните</a:t>
            </a:r>
            <a:r>
              <a:rPr lang="ru-RU" dirty="0"/>
              <a:t> </a:t>
            </a:r>
            <a:r>
              <a:rPr lang="ru-RU" dirty="0" err="1"/>
              <a:t>транзитни</a:t>
            </a:r>
            <a:r>
              <a:rPr lang="ru-RU" dirty="0"/>
              <a:t> направления и </a:t>
            </a:r>
            <a:r>
              <a:rPr lang="ru-RU" dirty="0" err="1"/>
              <a:t>свързват</a:t>
            </a:r>
            <a:r>
              <a:rPr lang="ru-RU" dirty="0"/>
              <a:t> </a:t>
            </a:r>
            <a:r>
              <a:rPr lang="ru-RU" dirty="0" err="1"/>
              <a:t>големите</a:t>
            </a:r>
            <a:r>
              <a:rPr lang="ru-RU" dirty="0"/>
              <a:t> </a:t>
            </a:r>
            <a:r>
              <a:rPr lang="ru-RU" dirty="0" err="1"/>
              <a:t>градове</a:t>
            </a:r>
            <a:r>
              <a:rPr lang="ru-RU" dirty="0"/>
              <a:t>.</a:t>
            </a:r>
          </a:p>
          <a:p>
            <a:pPr>
              <a:buFont typeface="Arial" panose="020B0604020202020204" pitchFamily="34" charset="0"/>
              <a:buChar char="•"/>
            </a:pPr>
            <a:r>
              <a:rPr lang="ru-RU" b="1" dirty="0" err="1"/>
              <a:t>Рискови</a:t>
            </a:r>
            <a:r>
              <a:rPr lang="ru-RU" b="1" dirty="0"/>
              <a:t> </a:t>
            </a:r>
            <a:r>
              <a:rPr lang="ru-RU" b="1" dirty="0" err="1"/>
              <a:t>фактори</a:t>
            </a:r>
            <a:r>
              <a:rPr lang="ru-RU" b="1" dirty="0"/>
              <a:t>:</a:t>
            </a:r>
            <a:r>
              <a:rPr lang="ru-RU" dirty="0"/>
              <a:t> </a:t>
            </a:r>
            <a:r>
              <a:rPr lang="ru-RU" dirty="0" err="1"/>
              <a:t>Често</a:t>
            </a:r>
            <a:r>
              <a:rPr lang="ru-RU" dirty="0"/>
              <a:t> </a:t>
            </a:r>
            <a:r>
              <a:rPr lang="ru-RU" dirty="0" err="1"/>
              <a:t>преминават</a:t>
            </a:r>
            <a:r>
              <a:rPr lang="ru-RU" dirty="0"/>
              <a:t> </a:t>
            </a:r>
            <a:r>
              <a:rPr lang="ru-RU" dirty="0" err="1"/>
              <a:t>през</a:t>
            </a:r>
            <a:r>
              <a:rPr lang="ru-RU" dirty="0"/>
              <a:t> </a:t>
            </a:r>
            <a:r>
              <a:rPr lang="ru-RU" dirty="0" err="1"/>
              <a:t>населени</a:t>
            </a:r>
            <a:r>
              <a:rPr lang="ru-RU" dirty="0"/>
              <a:t> места, </a:t>
            </a:r>
            <a:r>
              <a:rPr lang="ru-RU" dirty="0" err="1"/>
              <a:t>което</a:t>
            </a:r>
            <a:r>
              <a:rPr lang="ru-RU" dirty="0"/>
              <a:t> </a:t>
            </a:r>
            <a:r>
              <a:rPr lang="ru-RU" dirty="0" err="1"/>
              <a:t>създава</a:t>
            </a:r>
            <a:r>
              <a:rPr lang="ru-RU" dirty="0"/>
              <a:t> риск от конфликт с </a:t>
            </a:r>
            <a:r>
              <a:rPr lang="ru-RU" dirty="0" err="1"/>
              <a:t>пешеходци</a:t>
            </a:r>
            <a:r>
              <a:rPr lang="ru-RU" dirty="0"/>
              <a:t> и </a:t>
            </a:r>
            <a:r>
              <a:rPr lang="ru-RU" dirty="0" err="1"/>
              <a:t>велосипедисти</a:t>
            </a:r>
            <a:r>
              <a:rPr lang="ru-RU" dirty="0"/>
              <a:t>.</a:t>
            </a:r>
          </a:p>
          <a:p>
            <a:pPr>
              <a:buFont typeface="Arial" panose="020B0604020202020204" pitchFamily="34" charset="0"/>
              <a:buChar char="•"/>
            </a:pPr>
            <a:r>
              <a:rPr lang="ru-RU" b="1" dirty="0" err="1"/>
              <a:t>Изпреварване</a:t>
            </a:r>
            <a:r>
              <a:rPr lang="ru-RU" b="1" dirty="0"/>
              <a:t>:</a:t>
            </a:r>
            <a:r>
              <a:rPr lang="ru-RU" dirty="0"/>
              <a:t> </a:t>
            </a:r>
            <a:r>
              <a:rPr lang="ru-RU" dirty="0" err="1"/>
              <a:t>Това</a:t>
            </a:r>
            <a:r>
              <a:rPr lang="ru-RU" dirty="0"/>
              <a:t> е най-</a:t>
            </a:r>
            <a:r>
              <a:rPr lang="ru-RU" dirty="0" err="1"/>
              <a:t>критичният</a:t>
            </a:r>
            <a:r>
              <a:rPr lang="ru-RU" dirty="0"/>
              <a:t> </a:t>
            </a:r>
            <a:r>
              <a:rPr lang="ru-RU" dirty="0" err="1"/>
              <a:t>показател</a:t>
            </a:r>
            <a:r>
              <a:rPr lang="ru-RU" dirty="0"/>
              <a:t> тук. </a:t>
            </a:r>
            <a:r>
              <a:rPr lang="ru-RU" dirty="0" err="1"/>
              <a:t>Липсата</a:t>
            </a:r>
            <a:r>
              <a:rPr lang="ru-RU" dirty="0"/>
              <a:t> на </a:t>
            </a:r>
            <a:r>
              <a:rPr lang="ru-RU" dirty="0" err="1"/>
              <a:t>физическо</a:t>
            </a:r>
            <a:r>
              <a:rPr lang="ru-RU" dirty="0"/>
              <a:t> разделение между </a:t>
            </a:r>
            <a:r>
              <a:rPr lang="ru-RU" dirty="0" err="1"/>
              <a:t>платната</a:t>
            </a:r>
            <a:r>
              <a:rPr lang="ru-RU" dirty="0"/>
              <a:t> води до риск от </a:t>
            </a:r>
            <a:r>
              <a:rPr lang="ru-RU" dirty="0" err="1"/>
              <a:t>тежки</a:t>
            </a:r>
            <a:r>
              <a:rPr lang="ru-RU" dirty="0"/>
              <a:t> </a:t>
            </a:r>
            <a:r>
              <a:rPr lang="ru-RU" dirty="0" err="1"/>
              <a:t>челни</a:t>
            </a:r>
            <a:r>
              <a:rPr lang="ru-RU" dirty="0"/>
              <a:t> </a:t>
            </a:r>
            <a:r>
              <a:rPr lang="ru-RU" dirty="0" err="1"/>
              <a:t>удари</a:t>
            </a:r>
            <a:r>
              <a:rPr lang="ru-RU" dirty="0"/>
              <a:t> при </a:t>
            </a:r>
            <a:r>
              <a:rPr lang="ru-RU" dirty="0" err="1"/>
              <a:t>неправилно</a:t>
            </a:r>
            <a:r>
              <a:rPr lang="ru-RU" dirty="0"/>
              <a:t> </a:t>
            </a:r>
            <a:r>
              <a:rPr lang="ru-RU" dirty="0" err="1"/>
              <a:t>изпреварване</a:t>
            </a:r>
            <a:r>
              <a:rPr lang="ru-RU" dirty="0"/>
              <a:t>.</a:t>
            </a:r>
          </a:p>
          <a:p>
            <a:pPr>
              <a:buFont typeface="Arial" panose="020B0604020202020204" pitchFamily="34" charset="0"/>
              <a:buChar char="•"/>
            </a:pPr>
            <a:r>
              <a:rPr lang="ru-RU" b="1" dirty="0"/>
              <a:t>Инфраструктура:</a:t>
            </a:r>
            <a:r>
              <a:rPr lang="ru-RU" dirty="0"/>
              <a:t> </a:t>
            </a:r>
            <a:r>
              <a:rPr lang="ru-RU" dirty="0" err="1"/>
              <a:t>Обикновено</a:t>
            </a:r>
            <a:r>
              <a:rPr lang="ru-RU" dirty="0"/>
              <a:t> </a:t>
            </a:r>
            <a:r>
              <a:rPr lang="ru-RU" dirty="0" err="1"/>
              <a:t>са</a:t>
            </a:r>
            <a:r>
              <a:rPr lang="ru-RU" dirty="0"/>
              <a:t> с добро качество на </a:t>
            </a:r>
            <a:r>
              <a:rPr lang="ru-RU" dirty="0" err="1"/>
              <a:t>настилката</a:t>
            </a:r>
            <a:r>
              <a:rPr lang="ru-RU" dirty="0"/>
              <a:t> и </a:t>
            </a:r>
            <a:r>
              <a:rPr lang="ru-RU" dirty="0" err="1"/>
              <a:t>маркировката</a:t>
            </a:r>
            <a:r>
              <a:rPr lang="ru-RU" dirty="0"/>
              <a:t>, но </a:t>
            </a:r>
            <a:r>
              <a:rPr lang="ru-RU" dirty="0" err="1"/>
              <a:t>интензивният</a:t>
            </a:r>
            <a:r>
              <a:rPr lang="ru-RU" dirty="0"/>
              <a:t> трафик (вкл. </a:t>
            </a:r>
            <a:r>
              <a:rPr lang="ru-RU" dirty="0" err="1"/>
              <a:t>тежкотоварни</a:t>
            </a:r>
            <a:r>
              <a:rPr lang="ru-RU" dirty="0"/>
              <a:t> </a:t>
            </a:r>
            <a:r>
              <a:rPr lang="ru-RU" dirty="0" err="1"/>
              <a:t>камиони</a:t>
            </a:r>
            <a:r>
              <a:rPr lang="ru-RU" dirty="0"/>
              <a:t>) </a:t>
            </a:r>
            <a:r>
              <a:rPr lang="ru-RU" dirty="0" err="1"/>
              <a:t>увеличава</a:t>
            </a:r>
            <a:r>
              <a:rPr lang="ru-RU" dirty="0"/>
              <a:t> </a:t>
            </a:r>
            <a:r>
              <a:rPr lang="ru-RU" dirty="0" err="1"/>
              <a:t>вероятността</a:t>
            </a:r>
            <a:r>
              <a:rPr lang="ru-RU" dirty="0"/>
              <a:t> от </a:t>
            </a:r>
            <a:r>
              <a:rPr lang="ru-RU" dirty="0" err="1"/>
              <a:t>инциденти</a:t>
            </a:r>
            <a:r>
              <a:rPr lang="ru-RU" dirty="0"/>
              <a:t>.</a:t>
            </a:r>
          </a:p>
        </p:txBody>
      </p:sp>
      <p:sp>
        <p:nvSpPr>
          <p:cNvPr id="8" name="TextBox 7">
            <a:extLst>
              <a:ext uri="{FF2B5EF4-FFF2-40B4-BE49-F238E27FC236}">
                <a16:creationId xmlns:a16="http://schemas.microsoft.com/office/drawing/2014/main" id="{9D13A953-4541-B272-4BD3-32346CC2F84C}"/>
              </a:ext>
            </a:extLst>
          </p:cNvPr>
          <p:cNvSpPr txBox="1"/>
          <p:nvPr/>
        </p:nvSpPr>
        <p:spPr>
          <a:xfrm>
            <a:off x="408274" y="195893"/>
            <a:ext cx="5925310" cy="1200329"/>
          </a:xfrm>
          <a:prstGeom prst="rect">
            <a:avLst/>
          </a:prstGeom>
          <a:noFill/>
        </p:spPr>
        <p:txBody>
          <a:bodyPr wrap="square" rtlCol="0">
            <a:spAutoFit/>
          </a:bodyPr>
          <a:lstStyle/>
          <a:p>
            <a:pPr algn="ctr"/>
            <a:r>
              <a:rPr lang="ru-RU" sz="3600" dirty="0"/>
              <a:t>2. </a:t>
            </a:r>
            <a:r>
              <a:rPr lang="ru-RU" sz="3600" dirty="0" err="1"/>
              <a:t>Републикански</a:t>
            </a:r>
            <a:r>
              <a:rPr lang="ru-RU" sz="3600" dirty="0"/>
              <a:t> </a:t>
            </a:r>
            <a:r>
              <a:rPr lang="ru-RU" sz="3600" dirty="0" err="1"/>
              <a:t>пътища</a:t>
            </a:r>
            <a:r>
              <a:rPr lang="ru-RU" sz="3600" dirty="0"/>
              <a:t> I </a:t>
            </a:r>
            <a:r>
              <a:rPr lang="ru-RU" sz="3600" dirty="0" err="1"/>
              <a:t>клас</a:t>
            </a:r>
            <a:endParaRPr lang="en-US" sz="3600" dirty="0">
              <a:latin typeface="Georgia" panose="02040502050405020303" pitchFamily="18" charset="0"/>
            </a:endParaRPr>
          </a:p>
        </p:txBody>
      </p:sp>
      <p:pic>
        <p:nvPicPr>
          <p:cNvPr id="2050" name="Picture 2" descr="undefined">
            <a:extLst>
              <a:ext uri="{FF2B5EF4-FFF2-40B4-BE49-F238E27FC236}">
                <a16:creationId xmlns:a16="http://schemas.microsoft.com/office/drawing/2014/main" id="{E382A54E-3945-C47E-0960-31CD1AEA11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6750" y="2281237"/>
            <a:ext cx="4603750" cy="3452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972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8E931E-58A9-ED8D-66B8-3E3D544B4B0A}"/>
              </a:ext>
            </a:extLst>
          </p:cNvPr>
          <p:cNvSpPr>
            <a:spLocks noGrp="1"/>
          </p:cNvSpPr>
          <p:nvPr>
            <p:ph idx="1"/>
          </p:nvPr>
        </p:nvSpPr>
        <p:spPr>
          <a:xfrm>
            <a:off x="408275" y="1589797"/>
            <a:ext cx="6506876" cy="5072310"/>
          </a:xfrm>
        </p:spPr>
        <p:txBody>
          <a:bodyPr>
            <a:noAutofit/>
          </a:bodyPr>
          <a:lstStyle/>
          <a:p>
            <a:r>
              <a:rPr lang="ru-RU" dirty="0" err="1"/>
              <a:t>Тези</a:t>
            </a:r>
            <a:r>
              <a:rPr lang="ru-RU" dirty="0"/>
              <a:t> </a:t>
            </a:r>
            <a:r>
              <a:rPr lang="ru-RU" dirty="0" err="1"/>
              <a:t>пътища</a:t>
            </a:r>
            <a:r>
              <a:rPr lang="ru-RU" dirty="0"/>
              <a:t> </a:t>
            </a:r>
            <a:r>
              <a:rPr lang="ru-RU" dirty="0" err="1"/>
              <a:t>осигуряват</a:t>
            </a:r>
            <a:r>
              <a:rPr lang="ru-RU" dirty="0"/>
              <a:t> </a:t>
            </a:r>
            <a:r>
              <a:rPr lang="ru-RU" dirty="0" err="1"/>
              <a:t>достъп</a:t>
            </a:r>
            <a:r>
              <a:rPr lang="ru-RU" dirty="0"/>
              <a:t> до </a:t>
            </a:r>
            <a:r>
              <a:rPr lang="ru-RU" dirty="0" err="1"/>
              <a:t>по-малките</a:t>
            </a:r>
            <a:r>
              <a:rPr lang="ru-RU" dirty="0"/>
              <a:t> </a:t>
            </a:r>
            <a:r>
              <a:rPr lang="ru-RU" dirty="0" err="1"/>
              <a:t>региони</a:t>
            </a:r>
            <a:r>
              <a:rPr lang="ru-RU" dirty="0"/>
              <a:t> и </a:t>
            </a:r>
            <a:r>
              <a:rPr lang="ru-RU" dirty="0" err="1"/>
              <a:t>имат</a:t>
            </a:r>
            <a:r>
              <a:rPr lang="ru-RU" dirty="0"/>
              <a:t> </a:t>
            </a:r>
            <a:r>
              <a:rPr lang="ru-RU" dirty="0" err="1"/>
              <a:t>по-нисък</a:t>
            </a:r>
            <a:r>
              <a:rPr lang="ru-RU" dirty="0"/>
              <a:t> приоритет на </a:t>
            </a:r>
            <a:r>
              <a:rPr lang="ru-RU" dirty="0" err="1"/>
              <a:t>поддръжка</a:t>
            </a:r>
            <a:r>
              <a:rPr lang="ru-RU" dirty="0"/>
              <a:t>.</a:t>
            </a:r>
          </a:p>
          <a:p>
            <a:pPr>
              <a:buFont typeface="Arial" panose="020B0604020202020204" pitchFamily="34" charset="0"/>
              <a:buChar char="•"/>
            </a:pPr>
            <a:r>
              <a:rPr lang="ru-RU" b="1" dirty="0"/>
              <a:t>Геометрия:</a:t>
            </a:r>
            <a:r>
              <a:rPr lang="ru-RU" dirty="0"/>
              <a:t> </a:t>
            </a:r>
            <a:r>
              <a:rPr lang="ru-RU" dirty="0" err="1"/>
              <a:t>По-тесни</a:t>
            </a:r>
            <a:r>
              <a:rPr lang="ru-RU" dirty="0"/>
              <a:t> платна, </a:t>
            </a:r>
            <a:r>
              <a:rPr lang="ru-RU" dirty="0" err="1"/>
              <a:t>по-остри</a:t>
            </a:r>
            <a:r>
              <a:rPr lang="ru-RU" dirty="0"/>
              <a:t> </a:t>
            </a:r>
            <a:r>
              <a:rPr lang="ru-RU" dirty="0" err="1"/>
              <a:t>завои</a:t>
            </a:r>
            <a:r>
              <a:rPr lang="ru-RU" dirty="0"/>
              <a:t> и </a:t>
            </a:r>
            <a:r>
              <a:rPr lang="ru-RU" dirty="0" err="1"/>
              <a:t>по-големи</a:t>
            </a:r>
            <a:r>
              <a:rPr lang="ru-RU" dirty="0"/>
              <a:t> наклони. </a:t>
            </a:r>
            <a:r>
              <a:rPr lang="ru-RU" dirty="0" err="1"/>
              <a:t>Често</a:t>
            </a:r>
            <a:r>
              <a:rPr lang="ru-RU" dirty="0"/>
              <a:t> </a:t>
            </a:r>
            <a:r>
              <a:rPr lang="ru-RU" dirty="0" err="1"/>
              <a:t>липсват</a:t>
            </a:r>
            <a:r>
              <a:rPr lang="ru-RU" dirty="0"/>
              <a:t> </a:t>
            </a:r>
            <a:r>
              <a:rPr lang="ru-RU" dirty="0" err="1"/>
              <a:t>банкети</a:t>
            </a:r>
            <a:r>
              <a:rPr lang="ru-RU" dirty="0"/>
              <a:t> или </a:t>
            </a:r>
            <a:r>
              <a:rPr lang="ru-RU" dirty="0" err="1"/>
              <a:t>са</a:t>
            </a:r>
            <a:r>
              <a:rPr lang="ru-RU" dirty="0"/>
              <a:t> в </a:t>
            </a:r>
            <a:r>
              <a:rPr lang="ru-RU" dirty="0" err="1"/>
              <a:t>лошо</a:t>
            </a:r>
            <a:r>
              <a:rPr lang="ru-RU" dirty="0"/>
              <a:t> </a:t>
            </a:r>
            <a:r>
              <a:rPr lang="ru-RU" dirty="0" err="1"/>
              <a:t>състояние</a:t>
            </a:r>
            <a:r>
              <a:rPr lang="ru-RU" dirty="0"/>
              <a:t>.</a:t>
            </a:r>
          </a:p>
          <a:p>
            <a:pPr>
              <a:buFont typeface="Arial" panose="020B0604020202020204" pitchFamily="34" charset="0"/>
              <a:buChar char="•"/>
            </a:pPr>
            <a:r>
              <a:rPr lang="ru-RU" b="1" dirty="0" err="1"/>
              <a:t>Видимост</a:t>
            </a:r>
            <a:r>
              <a:rPr lang="ru-RU" b="1" dirty="0"/>
              <a:t>:</a:t>
            </a:r>
            <a:r>
              <a:rPr lang="ru-RU" dirty="0"/>
              <a:t> Ограничена </a:t>
            </a:r>
            <a:r>
              <a:rPr lang="ru-RU" dirty="0" err="1"/>
              <a:t>видимост</a:t>
            </a:r>
            <a:r>
              <a:rPr lang="ru-RU" dirty="0"/>
              <a:t> в много </a:t>
            </a:r>
            <a:r>
              <a:rPr lang="ru-RU" dirty="0" err="1"/>
              <a:t>участъци</a:t>
            </a:r>
            <a:r>
              <a:rPr lang="ru-RU" dirty="0"/>
              <a:t>, </a:t>
            </a:r>
            <a:r>
              <a:rPr lang="ru-RU" dirty="0" err="1"/>
              <a:t>което</a:t>
            </a:r>
            <a:r>
              <a:rPr lang="ru-RU" dirty="0"/>
              <a:t> </a:t>
            </a:r>
            <a:r>
              <a:rPr lang="ru-RU" dirty="0" err="1"/>
              <a:t>изисква</a:t>
            </a:r>
            <a:r>
              <a:rPr lang="ru-RU" dirty="0"/>
              <a:t> </a:t>
            </a:r>
            <a:r>
              <a:rPr lang="ru-RU" dirty="0" err="1"/>
              <a:t>по-ниска</a:t>
            </a:r>
            <a:r>
              <a:rPr lang="ru-RU" dirty="0"/>
              <a:t> </a:t>
            </a:r>
            <a:r>
              <a:rPr lang="ru-RU" dirty="0" err="1"/>
              <a:t>скорост</a:t>
            </a:r>
            <a:r>
              <a:rPr lang="ru-RU" dirty="0"/>
              <a:t>.</a:t>
            </a:r>
          </a:p>
          <a:p>
            <a:pPr>
              <a:buFont typeface="Arial" panose="020B0604020202020204" pitchFamily="34" charset="0"/>
              <a:buChar char="•"/>
            </a:pPr>
            <a:r>
              <a:rPr lang="ru-RU" b="1" dirty="0" err="1"/>
              <a:t>Участници</a:t>
            </a:r>
            <a:r>
              <a:rPr lang="ru-RU" b="1" dirty="0"/>
              <a:t> в </a:t>
            </a:r>
            <a:r>
              <a:rPr lang="ru-RU" b="1" dirty="0" err="1"/>
              <a:t>движението</a:t>
            </a:r>
            <a:r>
              <a:rPr lang="ru-RU" b="1" dirty="0"/>
              <a:t>:</a:t>
            </a:r>
            <a:r>
              <a:rPr lang="ru-RU" dirty="0"/>
              <a:t> </a:t>
            </a:r>
            <a:r>
              <a:rPr lang="ru-RU" dirty="0" err="1"/>
              <a:t>Срещат</a:t>
            </a:r>
            <a:r>
              <a:rPr lang="ru-RU" dirty="0"/>
              <a:t> се </a:t>
            </a:r>
            <a:r>
              <a:rPr lang="ru-RU" dirty="0" err="1"/>
              <a:t>селскостопанска</a:t>
            </a:r>
            <a:r>
              <a:rPr lang="ru-RU" dirty="0"/>
              <a:t> техника, </a:t>
            </a:r>
            <a:r>
              <a:rPr lang="ru-RU" dirty="0" err="1"/>
              <a:t>каруци</a:t>
            </a:r>
            <a:r>
              <a:rPr lang="ru-RU" dirty="0"/>
              <a:t> и </a:t>
            </a:r>
            <a:r>
              <a:rPr lang="ru-RU" dirty="0" err="1"/>
              <a:t>животни</a:t>
            </a:r>
            <a:r>
              <a:rPr lang="ru-RU" dirty="0"/>
              <a:t>, </a:t>
            </a:r>
            <a:r>
              <a:rPr lang="ru-RU" dirty="0" err="1"/>
              <a:t>което</a:t>
            </a:r>
            <a:r>
              <a:rPr lang="ru-RU" dirty="0"/>
              <a:t> е специфичен риск за </a:t>
            </a:r>
            <a:r>
              <a:rPr lang="ru-RU" dirty="0" err="1"/>
              <a:t>безопасността</a:t>
            </a:r>
            <a:r>
              <a:rPr lang="ru-RU" dirty="0"/>
              <a:t>.</a:t>
            </a:r>
          </a:p>
        </p:txBody>
      </p:sp>
      <p:sp>
        <p:nvSpPr>
          <p:cNvPr id="8" name="TextBox 7">
            <a:extLst>
              <a:ext uri="{FF2B5EF4-FFF2-40B4-BE49-F238E27FC236}">
                <a16:creationId xmlns:a16="http://schemas.microsoft.com/office/drawing/2014/main" id="{9D13A953-4541-B272-4BD3-32346CC2F84C}"/>
              </a:ext>
            </a:extLst>
          </p:cNvPr>
          <p:cNvSpPr txBox="1"/>
          <p:nvPr/>
        </p:nvSpPr>
        <p:spPr>
          <a:xfrm>
            <a:off x="408274" y="195893"/>
            <a:ext cx="5925310" cy="1200329"/>
          </a:xfrm>
          <a:prstGeom prst="rect">
            <a:avLst/>
          </a:prstGeom>
          <a:noFill/>
        </p:spPr>
        <p:txBody>
          <a:bodyPr wrap="square" rtlCol="0">
            <a:spAutoFit/>
          </a:bodyPr>
          <a:lstStyle/>
          <a:p>
            <a:pPr algn="ctr"/>
            <a:r>
              <a:rPr lang="ru-RU" sz="3600" dirty="0"/>
              <a:t>3. </a:t>
            </a:r>
            <a:r>
              <a:rPr lang="ru-RU" sz="3600" dirty="0" err="1"/>
              <a:t>Републикански</a:t>
            </a:r>
            <a:r>
              <a:rPr lang="ru-RU" sz="3600" dirty="0"/>
              <a:t> </a:t>
            </a:r>
            <a:r>
              <a:rPr lang="ru-RU" sz="3600" dirty="0" err="1"/>
              <a:t>пътища</a:t>
            </a:r>
            <a:r>
              <a:rPr lang="ru-RU" sz="3600" dirty="0"/>
              <a:t> II и III </a:t>
            </a:r>
            <a:r>
              <a:rPr lang="ru-RU" sz="3600" dirty="0" err="1"/>
              <a:t>клас</a:t>
            </a:r>
            <a:endParaRPr lang="en-US" sz="3600" dirty="0">
              <a:latin typeface="Georgia" panose="02040502050405020303" pitchFamily="18" charset="0"/>
            </a:endParaRPr>
          </a:p>
        </p:txBody>
      </p:sp>
      <p:pic>
        <p:nvPicPr>
          <p:cNvPr id="3074" name="Picture 2" descr="Областна - Изготвени и одобрени са три проекта за участъци от републиканската  пътна мрежа на територията на област Пазарджик. За възстановяване на  експлоатационните характеристики на пътната настилка и обезпечаване на  сигурността и">
            <a:extLst>
              <a:ext uri="{FF2B5EF4-FFF2-40B4-BE49-F238E27FC236}">
                <a16:creationId xmlns:a16="http://schemas.microsoft.com/office/drawing/2014/main" id="{E0306660-34B4-C566-E0E5-1B968B425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6312" y="2435190"/>
            <a:ext cx="4888863" cy="2737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66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7D754588-ACDA-78B4-4649-E5086F6F70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EDDED-887D-696B-8C1A-F4CA67553043}"/>
              </a:ext>
            </a:extLst>
          </p:cNvPr>
          <p:cNvSpPr>
            <a:spLocks noGrp="1"/>
          </p:cNvSpPr>
          <p:nvPr>
            <p:ph idx="1"/>
          </p:nvPr>
        </p:nvSpPr>
        <p:spPr>
          <a:xfrm>
            <a:off x="5885690" y="3105150"/>
            <a:ext cx="5925310" cy="2504695"/>
          </a:xfrm>
        </p:spPr>
        <p:txBody>
          <a:bodyPr>
            <a:noAutofit/>
          </a:bodyPr>
          <a:lstStyle/>
          <a:p>
            <a:pPr marL="0" indent="0" algn="ctr">
              <a:buNone/>
            </a:pPr>
            <a:r>
              <a:rPr lang="ru-RU" sz="2400" dirty="0">
                <a:latin typeface="+mn-lt"/>
              </a:rPr>
              <a:t>Сините </a:t>
            </a:r>
            <a:r>
              <a:rPr lang="ru-RU" sz="2400" dirty="0" err="1">
                <a:latin typeface="+mn-lt"/>
              </a:rPr>
              <a:t>кръгли</a:t>
            </a:r>
            <a:r>
              <a:rPr lang="ru-RU" sz="2400" dirty="0">
                <a:latin typeface="+mn-lt"/>
              </a:rPr>
              <a:t> </a:t>
            </a:r>
            <a:r>
              <a:rPr lang="ru-RU" sz="2400" dirty="0" err="1">
                <a:latin typeface="+mn-lt"/>
              </a:rPr>
              <a:t>знаци</a:t>
            </a:r>
            <a:r>
              <a:rPr lang="ru-RU" sz="2400" dirty="0">
                <a:latin typeface="+mn-lt"/>
              </a:rPr>
              <a:t> ни </a:t>
            </a:r>
            <a:r>
              <a:rPr lang="ru-RU" sz="2400" dirty="0" err="1">
                <a:latin typeface="+mn-lt"/>
              </a:rPr>
              <a:t>нареждат</a:t>
            </a:r>
            <a:r>
              <a:rPr lang="ru-RU" sz="2400" dirty="0">
                <a:latin typeface="+mn-lt"/>
              </a:rPr>
              <a:t> точно в коя </a:t>
            </a:r>
            <a:r>
              <a:rPr lang="ru-RU" sz="2400" dirty="0" err="1">
                <a:latin typeface="+mn-lt"/>
              </a:rPr>
              <a:t>посока</a:t>
            </a:r>
            <a:r>
              <a:rPr lang="ru-RU" sz="2400" dirty="0">
                <a:latin typeface="+mn-lt"/>
              </a:rPr>
              <a:t> да се движим, </a:t>
            </a:r>
            <a:r>
              <a:rPr lang="ru-RU" sz="2400" dirty="0" err="1">
                <a:latin typeface="+mn-lt"/>
              </a:rPr>
              <a:t>докато</a:t>
            </a:r>
            <a:r>
              <a:rPr lang="ru-RU" sz="2400" dirty="0">
                <a:latin typeface="+mn-lt"/>
              </a:rPr>
              <a:t> сините </a:t>
            </a:r>
            <a:r>
              <a:rPr lang="ru-RU" sz="2400" dirty="0" err="1">
                <a:latin typeface="+mn-lt"/>
              </a:rPr>
              <a:t>квадратни</a:t>
            </a:r>
            <a:r>
              <a:rPr lang="ru-RU" sz="2400" dirty="0">
                <a:latin typeface="+mn-lt"/>
              </a:rPr>
              <a:t> </a:t>
            </a:r>
            <a:r>
              <a:rPr lang="ru-RU" sz="2400" dirty="0" err="1">
                <a:latin typeface="+mn-lt"/>
              </a:rPr>
              <a:t>знаци</a:t>
            </a:r>
            <a:r>
              <a:rPr lang="ru-RU" sz="2400" dirty="0">
                <a:latin typeface="+mn-lt"/>
              </a:rPr>
              <a:t> ни </a:t>
            </a:r>
            <a:r>
              <a:rPr lang="ru-RU" sz="2400" dirty="0" err="1">
                <a:latin typeface="+mn-lt"/>
              </a:rPr>
              <a:t>дават</a:t>
            </a:r>
            <a:r>
              <a:rPr lang="ru-RU" sz="2400" dirty="0">
                <a:latin typeface="+mn-lt"/>
              </a:rPr>
              <a:t> важна информация за </a:t>
            </a:r>
            <a:r>
              <a:rPr lang="ru-RU" sz="2400" dirty="0" err="1">
                <a:latin typeface="+mn-lt"/>
              </a:rPr>
              <a:t>специфични</a:t>
            </a:r>
            <a:r>
              <a:rPr lang="ru-RU" sz="2400" dirty="0">
                <a:latin typeface="+mn-lt"/>
              </a:rPr>
              <a:t> правила </a:t>
            </a:r>
            <a:r>
              <a:rPr lang="ru-RU" sz="2400" dirty="0" err="1">
                <a:latin typeface="+mn-lt"/>
              </a:rPr>
              <a:t>като</a:t>
            </a:r>
            <a:r>
              <a:rPr lang="ru-RU" sz="2400" dirty="0">
                <a:latin typeface="+mn-lt"/>
              </a:rPr>
              <a:t> </a:t>
            </a:r>
            <a:r>
              <a:rPr lang="ru-RU" sz="2400" dirty="0" err="1">
                <a:latin typeface="+mn-lt"/>
              </a:rPr>
              <a:t>пешеходни</a:t>
            </a:r>
            <a:r>
              <a:rPr lang="ru-RU" sz="2400" dirty="0">
                <a:latin typeface="+mn-lt"/>
              </a:rPr>
              <a:t> </a:t>
            </a:r>
            <a:r>
              <a:rPr lang="ru-RU" sz="2400" dirty="0" err="1">
                <a:latin typeface="+mn-lt"/>
              </a:rPr>
              <a:t>пътеки</a:t>
            </a:r>
            <a:r>
              <a:rPr lang="ru-RU" sz="2400" dirty="0">
                <a:latin typeface="+mn-lt"/>
              </a:rPr>
              <a:t>, </a:t>
            </a:r>
            <a:r>
              <a:rPr lang="ru-RU" sz="2400" dirty="0" err="1">
                <a:latin typeface="+mn-lt"/>
              </a:rPr>
              <a:t>спирки</a:t>
            </a:r>
            <a:r>
              <a:rPr lang="ru-RU" sz="2400" dirty="0">
                <a:latin typeface="+mn-lt"/>
              </a:rPr>
              <a:t> или </a:t>
            </a:r>
            <a:r>
              <a:rPr lang="ru-RU" sz="2400" dirty="0" err="1">
                <a:latin typeface="+mn-lt"/>
              </a:rPr>
              <a:t>жилищни</a:t>
            </a:r>
            <a:r>
              <a:rPr lang="ru-RU" sz="2400" dirty="0">
                <a:latin typeface="+mn-lt"/>
              </a:rPr>
              <a:t> </a:t>
            </a:r>
            <a:r>
              <a:rPr lang="ru-RU" sz="2400" dirty="0" err="1">
                <a:latin typeface="+mn-lt"/>
              </a:rPr>
              <a:t>зони</a:t>
            </a:r>
            <a:r>
              <a:rPr lang="ru-RU" sz="2400" dirty="0">
                <a:latin typeface="+mn-lt"/>
              </a:rPr>
              <a:t>.</a:t>
            </a:r>
            <a:endParaRPr lang="bg-BG" sz="2400" dirty="0">
              <a:latin typeface="+mn-lt"/>
            </a:endParaRPr>
          </a:p>
        </p:txBody>
      </p:sp>
      <p:sp>
        <p:nvSpPr>
          <p:cNvPr id="8" name="TextBox 7">
            <a:extLst>
              <a:ext uri="{FF2B5EF4-FFF2-40B4-BE49-F238E27FC236}">
                <a16:creationId xmlns:a16="http://schemas.microsoft.com/office/drawing/2014/main" id="{A74E7E34-1604-8F6D-D6F8-5FEFDD02C1A0}"/>
              </a:ext>
            </a:extLst>
          </p:cNvPr>
          <p:cNvSpPr txBox="1"/>
          <p:nvPr/>
        </p:nvSpPr>
        <p:spPr>
          <a:xfrm>
            <a:off x="5728908" y="1111979"/>
            <a:ext cx="6082092" cy="1754326"/>
          </a:xfrm>
          <a:prstGeom prst="rect">
            <a:avLst/>
          </a:prstGeom>
          <a:noFill/>
        </p:spPr>
        <p:txBody>
          <a:bodyPr wrap="square" rtlCol="0">
            <a:spAutoFit/>
          </a:bodyPr>
          <a:lstStyle/>
          <a:p>
            <a:pPr algn="ctr"/>
            <a:r>
              <a:rPr lang="ru-RU" sz="3600" dirty="0" err="1">
                <a:latin typeface="+mj-lt"/>
              </a:rPr>
              <a:t>Пътни</a:t>
            </a:r>
            <a:r>
              <a:rPr lang="ru-RU" sz="3600" dirty="0">
                <a:latin typeface="+mj-lt"/>
              </a:rPr>
              <a:t> </a:t>
            </a:r>
            <a:r>
              <a:rPr lang="ru-RU" sz="3600" dirty="0" err="1">
                <a:latin typeface="+mj-lt"/>
              </a:rPr>
              <a:t>знаци</a:t>
            </a:r>
            <a:r>
              <a:rPr lang="ru-RU" sz="3600" dirty="0">
                <a:latin typeface="+mj-lt"/>
              </a:rPr>
              <a:t> </a:t>
            </a:r>
            <a:r>
              <a:rPr lang="ru-RU" sz="3600" dirty="0" err="1">
                <a:latin typeface="+mj-lt"/>
              </a:rPr>
              <a:t>със</a:t>
            </a:r>
            <a:r>
              <a:rPr lang="ru-RU" sz="3600" dirty="0">
                <a:latin typeface="+mj-lt"/>
              </a:rPr>
              <a:t> </a:t>
            </a:r>
            <a:r>
              <a:rPr lang="ru-RU" sz="3600" dirty="0" err="1">
                <a:latin typeface="+mj-lt"/>
              </a:rPr>
              <a:t>задължителни</a:t>
            </a:r>
            <a:r>
              <a:rPr lang="ru-RU" sz="3600" dirty="0">
                <a:latin typeface="+mj-lt"/>
              </a:rPr>
              <a:t> и </a:t>
            </a:r>
            <a:r>
              <a:rPr lang="ru-RU" sz="3600" dirty="0" err="1">
                <a:latin typeface="+mj-lt"/>
              </a:rPr>
              <a:t>специални</a:t>
            </a:r>
            <a:r>
              <a:rPr lang="ru-RU" sz="3600" dirty="0">
                <a:latin typeface="+mj-lt"/>
              </a:rPr>
              <a:t> предписания</a:t>
            </a:r>
            <a:endParaRPr lang="en-US" sz="3600" dirty="0">
              <a:latin typeface="+mj-lt"/>
            </a:endParaRPr>
          </a:p>
        </p:txBody>
      </p:sp>
      <p:pic>
        <p:nvPicPr>
          <p:cNvPr id="3074" name="Picture 2" descr="knigimechta.com - Най-важните пътни знаци - учебна таблица - Скорпио -  Колектив">
            <a:extLst>
              <a:ext uri="{FF2B5EF4-FFF2-40B4-BE49-F238E27FC236}">
                <a16:creationId xmlns:a16="http://schemas.microsoft.com/office/drawing/2014/main" id="{A62E13E5-06BF-87F6-B1CF-5A88866DA04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800" t="4471" r="3529" b="4243"/>
          <a:stretch/>
        </p:blipFill>
        <p:spPr bwMode="auto">
          <a:xfrm>
            <a:off x="112161" y="1906889"/>
            <a:ext cx="5517114" cy="3811506"/>
          </a:xfrm>
          <a:prstGeom prst="rect">
            <a:avLst/>
          </a:prstGeom>
          <a:ln w="38100" cap="sq">
            <a:no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307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7D754588-ACDA-78B4-4649-E5086F6F70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EDDED-887D-696B-8C1A-F4CA67553043}"/>
              </a:ext>
            </a:extLst>
          </p:cNvPr>
          <p:cNvSpPr>
            <a:spLocks noGrp="1"/>
          </p:cNvSpPr>
          <p:nvPr>
            <p:ph idx="1"/>
          </p:nvPr>
        </p:nvSpPr>
        <p:spPr>
          <a:xfrm>
            <a:off x="876248" y="1981198"/>
            <a:ext cx="10748760" cy="4653282"/>
          </a:xfrm>
        </p:spPr>
        <p:txBody>
          <a:bodyPr>
            <a:noAutofit/>
          </a:bodyPr>
          <a:lstStyle/>
          <a:p>
            <a:pPr marL="0" indent="0">
              <a:buNone/>
            </a:pPr>
            <a:r>
              <a:rPr lang="ru-RU" sz="2400" dirty="0" err="1"/>
              <a:t>Тези</a:t>
            </a:r>
            <a:r>
              <a:rPr lang="ru-RU" sz="2400" dirty="0"/>
              <a:t> </a:t>
            </a:r>
            <a:r>
              <a:rPr lang="ru-RU" sz="2400" dirty="0" err="1"/>
              <a:t>знаци</a:t>
            </a:r>
            <a:r>
              <a:rPr lang="ru-RU" sz="2400" dirty="0"/>
              <a:t> </a:t>
            </a:r>
            <a:r>
              <a:rPr lang="ru-RU" sz="2400" dirty="0" err="1"/>
              <a:t>указват</a:t>
            </a:r>
            <a:r>
              <a:rPr lang="ru-RU" sz="2400" dirty="0"/>
              <a:t> </a:t>
            </a:r>
            <a:r>
              <a:rPr lang="ru-RU" sz="2400" b="1" dirty="0" err="1"/>
              <a:t>какво</a:t>
            </a:r>
            <a:r>
              <a:rPr lang="ru-RU" sz="2400" b="1" dirty="0"/>
              <a:t> е </a:t>
            </a:r>
            <a:r>
              <a:rPr lang="ru-RU" sz="2400" b="1" dirty="0" err="1"/>
              <a:t>задължително</a:t>
            </a:r>
            <a:r>
              <a:rPr lang="ru-RU" sz="2400" b="1" dirty="0"/>
              <a:t> да </a:t>
            </a:r>
            <a:r>
              <a:rPr lang="ru-RU" sz="2400" b="1" dirty="0" err="1"/>
              <a:t>направи</a:t>
            </a:r>
            <a:r>
              <a:rPr lang="ru-RU" sz="2400" b="1" dirty="0"/>
              <a:t> </a:t>
            </a:r>
            <a:r>
              <a:rPr lang="ru-RU" sz="2400" b="1" dirty="0" err="1"/>
              <a:t>водачът</a:t>
            </a:r>
            <a:r>
              <a:rPr lang="ru-RU" sz="2400" dirty="0"/>
              <a:t>. </a:t>
            </a:r>
            <a:r>
              <a:rPr lang="ru-RU" sz="2400" dirty="0" err="1"/>
              <a:t>Обикновено</a:t>
            </a:r>
            <a:r>
              <a:rPr lang="ru-RU" sz="2400" dirty="0"/>
              <a:t> </a:t>
            </a:r>
            <a:r>
              <a:rPr lang="ru-RU" sz="2400" dirty="0" err="1"/>
              <a:t>са</a:t>
            </a:r>
            <a:r>
              <a:rPr lang="ru-RU" sz="2400" dirty="0"/>
              <a:t> </a:t>
            </a:r>
            <a:r>
              <a:rPr lang="ru-RU" sz="2400" b="1" dirty="0" err="1"/>
              <a:t>кръгли</a:t>
            </a:r>
            <a:r>
              <a:rPr lang="ru-RU" sz="2400" b="1" dirty="0"/>
              <a:t> </a:t>
            </a:r>
            <a:r>
              <a:rPr lang="ru-RU" sz="2400" b="1" dirty="0" err="1"/>
              <a:t>със</a:t>
            </a:r>
            <a:r>
              <a:rPr lang="ru-RU" sz="2400" b="1" dirty="0"/>
              <a:t> </a:t>
            </a:r>
            <a:r>
              <a:rPr lang="ru-RU" sz="2400" b="1" dirty="0" err="1"/>
              <a:t>син</a:t>
            </a:r>
            <a:r>
              <a:rPr lang="ru-RU" sz="2400" b="1" dirty="0"/>
              <a:t> фон и бели </a:t>
            </a:r>
            <a:r>
              <a:rPr lang="ru-RU" sz="2400" b="1" dirty="0" err="1"/>
              <a:t>символи</a:t>
            </a:r>
            <a:r>
              <a:rPr lang="ru-RU" sz="2400" dirty="0"/>
              <a:t>. </a:t>
            </a:r>
          </a:p>
          <a:p>
            <a:pPr lvl="1"/>
            <a:r>
              <a:rPr lang="ru-RU" sz="2400" b="1" dirty="0"/>
              <a:t>Г1 „Движение само направо след знака“:</a:t>
            </a:r>
            <a:r>
              <a:rPr lang="ru-RU" sz="2400" dirty="0"/>
              <a:t> </a:t>
            </a:r>
            <a:r>
              <a:rPr lang="ru-RU" sz="2400" dirty="0" err="1"/>
              <a:t>Задължава</a:t>
            </a:r>
            <a:r>
              <a:rPr lang="ru-RU" sz="2400" dirty="0"/>
              <a:t> те да </a:t>
            </a:r>
            <a:r>
              <a:rPr lang="ru-RU" sz="2400" dirty="0" err="1"/>
              <a:t>продължиш</a:t>
            </a:r>
            <a:r>
              <a:rPr lang="ru-RU" sz="2400" dirty="0"/>
              <a:t> </a:t>
            </a:r>
            <a:r>
              <a:rPr lang="ru-RU" sz="2400" dirty="0" err="1"/>
              <a:t>движението</a:t>
            </a:r>
            <a:r>
              <a:rPr lang="ru-RU" sz="2400" dirty="0"/>
              <a:t> си само направо, </a:t>
            </a:r>
            <a:r>
              <a:rPr lang="ru-RU" sz="2400" dirty="0" err="1"/>
              <a:t>като</a:t>
            </a:r>
            <a:r>
              <a:rPr lang="ru-RU" sz="2400" dirty="0"/>
              <a:t> </a:t>
            </a:r>
            <a:r>
              <a:rPr lang="ru-RU" sz="2400" dirty="0" err="1"/>
              <a:t>забранява</a:t>
            </a:r>
            <a:r>
              <a:rPr lang="ru-RU" sz="2400" dirty="0"/>
              <a:t> </a:t>
            </a:r>
            <a:r>
              <a:rPr lang="ru-RU" sz="2400" dirty="0" err="1"/>
              <a:t>завоите</a:t>
            </a:r>
            <a:r>
              <a:rPr lang="ru-RU" sz="2400" dirty="0"/>
              <a:t> на </a:t>
            </a:r>
            <a:r>
              <a:rPr lang="ru-RU" sz="2400" dirty="0" err="1"/>
              <a:t>кръстовището</a:t>
            </a:r>
            <a:r>
              <a:rPr lang="ru-RU" sz="2400" dirty="0"/>
              <a:t>.</a:t>
            </a:r>
          </a:p>
          <a:p>
            <a:pPr lvl="1"/>
            <a:r>
              <a:rPr lang="ru-RU" sz="2400" b="1" dirty="0"/>
              <a:t>Г9 „</a:t>
            </a:r>
            <a:r>
              <a:rPr lang="ru-RU" sz="2400" b="1" dirty="0" err="1"/>
              <a:t>Преминаване</a:t>
            </a:r>
            <a:r>
              <a:rPr lang="ru-RU" sz="2400" b="1" dirty="0"/>
              <a:t> </a:t>
            </a:r>
            <a:r>
              <a:rPr lang="ru-RU" sz="2400" b="1" dirty="0" err="1"/>
              <a:t>отдясно</a:t>
            </a:r>
            <a:r>
              <a:rPr lang="ru-RU" sz="2400" b="1" dirty="0"/>
              <a:t> на </a:t>
            </a:r>
            <a:r>
              <a:rPr lang="ru-RU" sz="2400" b="1" dirty="0" err="1"/>
              <a:t>препятствието</a:t>
            </a:r>
            <a:r>
              <a:rPr lang="ru-RU" sz="2400" b="1" dirty="0"/>
              <a:t>“:</a:t>
            </a:r>
            <a:r>
              <a:rPr lang="ru-RU" sz="2400" dirty="0"/>
              <a:t> </a:t>
            </a:r>
            <a:r>
              <a:rPr lang="ru-RU" sz="2400" dirty="0" err="1"/>
              <a:t>Указва</a:t>
            </a:r>
            <a:r>
              <a:rPr lang="ru-RU" sz="2400" dirty="0"/>
              <a:t>, че </a:t>
            </a:r>
            <a:r>
              <a:rPr lang="ru-RU" sz="2400" dirty="0" err="1"/>
              <a:t>трябва</a:t>
            </a:r>
            <a:r>
              <a:rPr lang="ru-RU" sz="2400" dirty="0"/>
              <a:t> </a:t>
            </a:r>
            <a:r>
              <a:rPr lang="ru-RU" sz="2400" dirty="0" err="1"/>
              <a:t>задължително</a:t>
            </a:r>
            <a:r>
              <a:rPr lang="ru-RU" sz="2400" dirty="0"/>
              <a:t> да </a:t>
            </a:r>
            <a:r>
              <a:rPr lang="ru-RU" sz="2400" dirty="0" err="1"/>
              <a:t>заобиколиш</a:t>
            </a:r>
            <a:r>
              <a:rPr lang="ru-RU" sz="2400" dirty="0"/>
              <a:t> </a:t>
            </a:r>
            <a:r>
              <a:rPr lang="ru-RU" sz="2400" dirty="0" err="1"/>
              <a:t>препятствието</a:t>
            </a:r>
            <a:r>
              <a:rPr lang="ru-RU" sz="2400" dirty="0"/>
              <a:t> на </a:t>
            </a:r>
            <a:r>
              <a:rPr lang="ru-RU" sz="2400" dirty="0" err="1"/>
              <a:t>пътя</a:t>
            </a:r>
            <a:r>
              <a:rPr lang="ru-RU" sz="2400" dirty="0"/>
              <a:t> от </a:t>
            </a:r>
            <a:r>
              <a:rPr lang="ru-RU" sz="2400" dirty="0" err="1"/>
              <a:t>дясната</a:t>
            </a:r>
            <a:r>
              <a:rPr lang="ru-RU" sz="2400" dirty="0"/>
              <a:t> </a:t>
            </a:r>
            <a:r>
              <a:rPr lang="ru-RU" sz="2400" dirty="0" err="1"/>
              <a:t>му</a:t>
            </a:r>
            <a:r>
              <a:rPr lang="ru-RU" sz="2400" dirty="0"/>
              <a:t> страна.</a:t>
            </a:r>
          </a:p>
          <a:p>
            <a:pPr lvl="1"/>
            <a:r>
              <a:rPr lang="ru-RU" sz="2400" b="1" dirty="0"/>
              <a:t>Г14 „</a:t>
            </a:r>
            <a:r>
              <a:rPr lang="ru-RU" sz="2400" b="1" dirty="0" err="1"/>
              <a:t>Път</a:t>
            </a:r>
            <a:r>
              <a:rPr lang="ru-RU" sz="2400" b="1" dirty="0"/>
              <a:t> само за </a:t>
            </a:r>
            <a:r>
              <a:rPr lang="ru-RU" sz="2400" b="1" dirty="0" err="1"/>
              <a:t>пешеходци</a:t>
            </a:r>
            <a:r>
              <a:rPr lang="ru-RU" sz="2400" b="1" dirty="0"/>
              <a:t>“:</a:t>
            </a:r>
            <a:r>
              <a:rPr lang="ru-RU" sz="2400" dirty="0"/>
              <a:t> </a:t>
            </a:r>
            <a:r>
              <a:rPr lang="ru-RU" sz="2400" dirty="0" err="1"/>
              <a:t>Обозначава</a:t>
            </a:r>
            <a:r>
              <a:rPr lang="ru-RU" sz="2400" dirty="0"/>
              <a:t> </a:t>
            </a:r>
            <a:r>
              <a:rPr lang="ru-RU" sz="2400" dirty="0" err="1"/>
              <a:t>път</a:t>
            </a:r>
            <a:r>
              <a:rPr lang="ru-RU" sz="2400" dirty="0"/>
              <a:t>, предназначен </a:t>
            </a:r>
            <a:r>
              <a:rPr lang="ru-RU" sz="2400" dirty="0" err="1"/>
              <a:t>единствено</a:t>
            </a:r>
            <a:r>
              <a:rPr lang="ru-RU" sz="2400" dirty="0"/>
              <a:t> за </a:t>
            </a:r>
            <a:r>
              <a:rPr lang="ru-RU" sz="2400" dirty="0" err="1"/>
              <a:t>пешеходци</a:t>
            </a:r>
            <a:r>
              <a:rPr lang="ru-RU" sz="2400" dirty="0"/>
              <a:t>, в </a:t>
            </a:r>
            <a:r>
              <a:rPr lang="ru-RU" sz="2400" dirty="0" err="1"/>
              <a:t>който</a:t>
            </a:r>
            <a:r>
              <a:rPr lang="ru-RU" sz="2400" dirty="0"/>
              <a:t> </a:t>
            </a:r>
            <a:r>
              <a:rPr lang="ru-RU" sz="2400" dirty="0" err="1"/>
              <a:t>навлизането</a:t>
            </a:r>
            <a:r>
              <a:rPr lang="ru-RU" sz="2400" dirty="0"/>
              <a:t> на </a:t>
            </a:r>
            <a:r>
              <a:rPr lang="ru-RU" sz="2400" dirty="0" err="1"/>
              <a:t>превозни</a:t>
            </a:r>
            <a:r>
              <a:rPr lang="ru-RU" sz="2400" dirty="0"/>
              <a:t> средства е забранено.</a:t>
            </a:r>
          </a:p>
        </p:txBody>
      </p:sp>
      <p:sp>
        <p:nvSpPr>
          <p:cNvPr id="8" name="TextBox 7">
            <a:extLst>
              <a:ext uri="{FF2B5EF4-FFF2-40B4-BE49-F238E27FC236}">
                <a16:creationId xmlns:a16="http://schemas.microsoft.com/office/drawing/2014/main" id="{A74E7E34-1604-8F6D-D6F8-5FEFDD02C1A0}"/>
              </a:ext>
            </a:extLst>
          </p:cNvPr>
          <p:cNvSpPr txBox="1"/>
          <p:nvPr/>
        </p:nvSpPr>
        <p:spPr>
          <a:xfrm>
            <a:off x="563880" y="369660"/>
            <a:ext cx="9825418" cy="1200329"/>
          </a:xfrm>
          <a:prstGeom prst="rect">
            <a:avLst/>
          </a:prstGeom>
          <a:noFill/>
        </p:spPr>
        <p:txBody>
          <a:bodyPr wrap="square" rtlCol="0">
            <a:spAutoFit/>
          </a:bodyPr>
          <a:lstStyle/>
          <a:p>
            <a:pPr algn="ctr"/>
            <a:r>
              <a:rPr lang="ru-RU" sz="3600" dirty="0"/>
              <a:t>1. </a:t>
            </a:r>
            <a:r>
              <a:rPr lang="ru-RU" sz="3600" dirty="0" err="1"/>
              <a:t>Пътни</a:t>
            </a:r>
            <a:r>
              <a:rPr lang="ru-RU" sz="3600" dirty="0"/>
              <a:t> </a:t>
            </a:r>
            <a:r>
              <a:rPr lang="ru-RU" sz="3600" dirty="0" err="1"/>
              <a:t>знаци</a:t>
            </a:r>
            <a:r>
              <a:rPr lang="ru-RU" sz="3600" dirty="0"/>
              <a:t> </a:t>
            </a:r>
            <a:r>
              <a:rPr lang="ru-RU" sz="3600" dirty="0" err="1"/>
              <a:t>със</a:t>
            </a:r>
            <a:r>
              <a:rPr lang="ru-RU" sz="3600" dirty="0"/>
              <a:t> </a:t>
            </a:r>
            <a:r>
              <a:rPr lang="ru-RU" sz="3600" dirty="0" err="1"/>
              <a:t>задължителни</a:t>
            </a:r>
            <a:r>
              <a:rPr lang="ru-RU" sz="3600" dirty="0"/>
              <a:t> предписания (</a:t>
            </a:r>
            <a:r>
              <a:rPr lang="ru-RU" sz="3600" dirty="0" err="1"/>
              <a:t>Група</a:t>
            </a:r>
            <a:r>
              <a:rPr lang="ru-RU" sz="3600" dirty="0"/>
              <a:t> "Г")</a:t>
            </a:r>
            <a:endParaRPr lang="en-US" sz="3600" dirty="0">
              <a:latin typeface="Georgia" panose="02040502050405020303" pitchFamily="18" charset="0"/>
            </a:endParaRPr>
          </a:p>
        </p:txBody>
      </p:sp>
      <p:pic>
        <p:nvPicPr>
          <p:cNvPr id="5128" name="Picture 8" descr="Пътен знак Г15 - Задължителен път само за пешеходци | Авто Обучение">
            <a:extLst>
              <a:ext uri="{FF2B5EF4-FFF2-40B4-BE49-F238E27FC236}">
                <a16:creationId xmlns:a16="http://schemas.microsoft.com/office/drawing/2014/main" id="{AC214F9B-7976-8E25-3494-E878F6E9C2B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654" t="12683" r="16654" b="12530"/>
          <a:stretch/>
        </p:blipFill>
        <p:spPr bwMode="auto">
          <a:xfrm>
            <a:off x="604433" y="5194173"/>
            <a:ext cx="569787" cy="551596"/>
          </a:xfrm>
          <a:prstGeom prst="ellipse">
            <a:avLst/>
          </a:prstGeom>
          <a:noFill/>
          <a:extLst>
            <a:ext uri="{909E8E84-426E-40DD-AFC4-6F175D3DCCD1}">
              <a14:hiddenFill xmlns:a14="http://schemas.microsoft.com/office/drawing/2010/main">
                <a:solidFill>
                  <a:srgbClr val="FFFFFF"/>
                </a:solidFill>
              </a14:hiddenFill>
            </a:ext>
          </a:extLst>
        </p:spPr>
      </p:pic>
      <p:pic>
        <p:nvPicPr>
          <p:cNvPr id="5126" name="Picture 6" descr="Пътен знак Г9 - Преминаване отдясно на знака | Авто Обучение">
            <a:extLst>
              <a:ext uri="{FF2B5EF4-FFF2-40B4-BE49-F238E27FC236}">
                <a16:creationId xmlns:a16="http://schemas.microsoft.com/office/drawing/2014/main" id="{B6C2BF72-F28F-BDF8-3D32-6D70F6600B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270" t="13075" r="17602" b="14697"/>
          <a:stretch/>
        </p:blipFill>
        <p:spPr bwMode="auto">
          <a:xfrm>
            <a:off x="627792" y="4028139"/>
            <a:ext cx="569787" cy="551595"/>
          </a:xfrm>
          <a:prstGeom prst="ellipse">
            <a:avLst/>
          </a:prstGeom>
          <a:noFill/>
          <a:extLst>
            <a:ext uri="{909E8E84-426E-40DD-AFC4-6F175D3DCCD1}">
              <a14:hiddenFill xmlns:a14="http://schemas.microsoft.com/office/drawing/2010/main">
                <a:solidFill>
                  <a:srgbClr val="FFFFFF"/>
                </a:solidFill>
              </a14:hiddenFill>
            </a:ext>
          </a:extLst>
        </p:spPr>
      </p:pic>
      <p:pic>
        <p:nvPicPr>
          <p:cNvPr id="5124" name="Picture 4" descr="Пътен знак Г1 - Деплан ООД - ВиК, строителни материали и нови технологии.">
            <a:extLst>
              <a:ext uri="{FF2B5EF4-FFF2-40B4-BE49-F238E27FC236}">
                <a16:creationId xmlns:a16="http://schemas.microsoft.com/office/drawing/2014/main" id="{CAA3E8BA-CB54-7445-975D-5D81F99031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242" t="14225" r="16318" b="15157"/>
          <a:stretch/>
        </p:blipFill>
        <p:spPr bwMode="auto">
          <a:xfrm>
            <a:off x="604433" y="2862105"/>
            <a:ext cx="543630" cy="560925"/>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033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7D754588-ACDA-78B4-4649-E5086F6F70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EDDED-887D-696B-8C1A-F4CA67553043}"/>
              </a:ext>
            </a:extLst>
          </p:cNvPr>
          <p:cNvSpPr>
            <a:spLocks noGrp="1"/>
          </p:cNvSpPr>
          <p:nvPr>
            <p:ph idx="1"/>
          </p:nvPr>
        </p:nvSpPr>
        <p:spPr>
          <a:xfrm>
            <a:off x="812800" y="1981200"/>
            <a:ext cx="10822368" cy="3857625"/>
          </a:xfrm>
        </p:spPr>
        <p:txBody>
          <a:bodyPr>
            <a:noAutofit/>
          </a:bodyPr>
          <a:lstStyle/>
          <a:p>
            <a:pPr marL="0" indent="0">
              <a:buNone/>
            </a:pPr>
            <a:r>
              <a:rPr lang="ru-RU" sz="2400" dirty="0" err="1"/>
              <a:t>Тези</a:t>
            </a:r>
            <a:r>
              <a:rPr lang="ru-RU" sz="2400" dirty="0"/>
              <a:t> </a:t>
            </a:r>
            <a:r>
              <a:rPr lang="ru-RU" sz="2400" dirty="0" err="1"/>
              <a:t>знаци</a:t>
            </a:r>
            <a:r>
              <a:rPr lang="ru-RU" sz="2400" dirty="0"/>
              <a:t> </a:t>
            </a:r>
            <a:r>
              <a:rPr lang="ru-RU" sz="2400" dirty="0" err="1"/>
              <a:t>въвеждат</a:t>
            </a:r>
            <a:r>
              <a:rPr lang="ru-RU" sz="2400" dirty="0"/>
              <a:t> </a:t>
            </a:r>
            <a:r>
              <a:rPr lang="ru-RU" sz="2400" b="1" dirty="0" err="1"/>
              <a:t>специален</a:t>
            </a:r>
            <a:r>
              <a:rPr lang="ru-RU" sz="2400" b="1" dirty="0"/>
              <a:t> режим на движение или организация на </a:t>
            </a:r>
            <a:r>
              <a:rPr lang="ru-RU" sz="2400" b="1" dirty="0" err="1"/>
              <a:t>пътя</a:t>
            </a:r>
            <a:r>
              <a:rPr lang="ru-RU" sz="2400" dirty="0"/>
              <a:t>. </a:t>
            </a:r>
            <a:r>
              <a:rPr lang="ru-RU" sz="2400" dirty="0" err="1"/>
              <a:t>Обикновено</a:t>
            </a:r>
            <a:r>
              <a:rPr lang="ru-RU" sz="2400" dirty="0"/>
              <a:t> </a:t>
            </a:r>
            <a:r>
              <a:rPr lang="ru-RU" sz="2400" dirty="0" err="1"/>
              <a:t>са</a:t>
            </a:r>
            <a:r>
              <a:rPr lang="ru-RU" sz="2400" dirty="0"/>
              <a:t> </a:t>
            </a:r>
            <a:r>
              <a:rPr lang="ru-RU" sz="2400" b="1" dirty="0" err="1"/>
              <a:t>правоъгълни</a:t>
            </a:r>
            <a:r>
              <a:rPr lang="ru-RU" sz="2400" b="1" dirty="0"/>
              <a:t> или </a:t>
            </a:r>
            <a:r>
              <a:rPr lang="ru-RU" sz="2400" b="1" dirty="0" err="1"/>
              <a:t>квадратни</a:t>
            </a:r>
            <a:r>
              <a:rPr lang="ru-RU" sz="2400" b="1" dirty="0"/>
              <a:t> </a:t>
            </a:r>
            <a:r>
              <a:rPr lang="ru-RU" sz="2400" b="1" dirty="0" err="1"/>
              <a:t>със</a:t>
            </a:r>
            <a:r>
              <a:rPr lang="ru-RU" sz="2400" b="1" dirty="0"/>
              <a:t> </a:t>
            </a:r>
            <a:r>
              <a:rPr lang="ru-RU" sz="2400" b="1" dirty="0" err="1"/>
              <a:t>син</a:t>
            </a:r>
            <a:r>
              <a:rPr lang="ru-RU" sz="2400" b="1" dirty="0"/>
              <a:t> фон</a:t>
            </a:r>
            <a:r>
              <a:rPr lang="ru-RU" sz="2400" dirty="0"/>
              <a:t>. </a:t>
            </a:r>
            <a:endParaRPr lang="ru-RU" sz="2400" b="1" dirty="0"/>
          </a:p>
          <a:p>
            <a:pPr lvl="1"/>
            <a:r>
              <a:rPr lang="ru-RU" sz="2400" b="1" dirty="0"/>
              <a:t>Д5  "</a:t>
            </a:r>
            <a:r>
              <a:rPr lang="ru-RU" sz="2400" b="1" dirty="0" err="1"/>
              <a:t>Автомагистрала</a:t>
            </a:r>
            <a:r>
              <a:rPr lang="ru-RU" sz="2400" b="1" dirty="0"/>
              <a:t>": </a:t>
            </a:r>
            <a:r>
              <a:rPr lang="ru-RU" sz="2400" dirty="0" err="1"/>
              <a:t>Обозначава</a:t>
            </a:r>
            <a:r>
              <a:rPr lang="ru-RU" sz="2400" dirty="0"/>
              <a:t> </a:t>
            </a:r>
            <a:r>
              <a:rPr lang="ru-RU" sz="2400" dirty="0" err="1"/>
              <a:t>път</a:t>
            </a:r>
            <a:r>
              <a:rPr lang="ru-RU" sz="2400" dirty="0"/>
              <a:t>, по </a:t>
            </a:r>
            <a:r>
              <a:rPr lang="ru-RU" sz="2400" dirty="0" err="1"/>
              <a:t>който</a:t>
            </a:r>
            <a:r>
              <a:rPr lang="ru-RU" sz="2400" dirty="0"/>
              <a:t> се </a:t>
            </a:r>
            <a:r>
              <a:rPr lang="ru-RU" sz="2400" dirty="0" err="1"/>
              <a:t>прилагат</a:t>
            </a:r>
            <a:r>
              <a:rPr lang="ru-RU" sz="2400" dirty="0"/>
              <a:t> </a:t>
            </a:r>
            <a:r>
              <a:rPr lang="ru-RU" sz="2400" dirty="0" err="1"/>
              <a:t>специални</a:t>
            </a:r>
            <a:r>
              <a:rPr lang="ru-RU" sz="2400" dirty="0"/>
              <a:t> правила за движение на </a:t>
            </a:r>
            <a:r>
              <a:rPr lang="ru-RU" sz="2400" dirty="0" err="1"/>
              <a:t>автомагистрала</a:t>
            </a:r>
            <a:r>
              <a:rPr lang="ru-RU" sz="2400" dirty="0"/>
              <a:t>.</a:t>
            </a:r>
          </a:p>
          <a:p>
            <a:pPr lvl="1"/>
            <a:r>
              <a:rPr lang="ru-RU" sz="2400" b="1" dirty="0"/>
              <a:t>Д7 "</a:t>
            </a:r>
            <a:r>
              <a:rPr lang="ru-RU" sz="2400" b="1" dirty="0" err="1"/>
              <a:t>Път</a:t>
            </a:r>
            <a:r>
              <a:rPr lang="ru-RU" sz="2400" b="1" dirty="0"/>
              <a:t> за автомобили":</a:t>
            </a:r>
            <a:r>
              <a:rPr lang="ru-RU" sz="2400" dirty="0"/>
              <a:t> </a:t>
            </a:r>
            <a:r>
              <a:rPr lang="ru-RU" sz="2400" dirty="0" err="1"/>
              <a:t>Разрешава</a:t>
            </a:r>
            <a:r>
              <a:rPr lang="ru-RU" sz="2400" dirty="0"/>
              <a:t> </a:t>
            </a:r>
            <a:r>
              <a:rPr lang="ru-RU" sz="2400" dirty="0" err="1"/>
              <a:t>движението</a:t>
            </a:r>
            <a:r>
              <a:rPr lang="ru-RU" sz="2400" dirty="0"/>
              <a:t> само на </a:t>
            </a:r>
            <a:r>
              <a:rPr lang="ru-RU" sz="2400" dirty="0" err="1"/>
              <a:t>моторни</a:t>
            </a:r>
            <a:r>
              <a:rPr lang="ru-RU" sz="2400" dirty="0"/>
              <a:t> </a:t>
            </a:r>
            <a:r>
              <a:rPr lang="ru-RU" sz="2400" dirty="0" err="1"/>
              <a:t>превозни</a:t>
            </a:r>
            <a:r>
              <a:rPr lang="ru-RU" sz="2400" dirty="0"/>
              <a:t> средства.</a:t>
            </a:r>
          </a:p>
          <a:p>
            <a:pPr lvl="1"/>
            <a:r>
              <a:rPr lang="ru-RU" sz="2400" b="1" dirty="0"/>
              <a:t>Д17  "</a:t>
            </a:r>
            <a:r>
              <a:rPr lang="ru-RU" sz="2400" b="1" dirty="0" err="1"/>
              <a:t>Пешеходна</a:t>
            </a:r>
            <a:r>
              <a:rPr lang="ru-RU" sz="2400" b="1" dirty="0"/>
              <a:t> </a:t>
            </a:r>
            <a:r>
              <a:rPr lang="ru-RU" sz="2400" b="1" dirty="0" err="1"/>
              <a:t>пътека</a:t>
            </a:r>
            <a:r>
              <a:rPr lang="ru-RU" sz="2400" b="1" dirty="0"/>
              <a:t>"</a:t>
            </a:r>
            <a:r>
              <a:rPr lang="ru-RU" sz="2400" dirty="0"/>
              <a:t>: </a:t>
            </a:r>
            <a:r>
              <a:rPr lang="ru-RU" sz="2400" dirty="0" err="1"/>
              <a:t>Показва</a:t>
            </a:r>
            <a:r>
              <a:rPr lang="ru-RU" sz="2400" dirty="0"/>
              <a:t> </a:t>
            </a:r>
            <a:r>
              <a:rPr lang="ru-RU" sz="2400" dirty="0" err="1"/>
              <a:t>място</a:t>
            </a:r>
            <a:r>
              <a:rPr lang="ru-RU" sz="2400" dirty="0"/>
              <a:t> за </a:t>
            </a:r>
            <a:r>
              <a:rPr lang="ru-RU" sz="2400" dirty="0" err="1"/>
              <a:t>пресичане</a:t>
            </a:r>
            <a:r>
              <a:rPr lang="ru-RU" sz="2400" dirty="0"/>
              <a:t>, </a:t>
            </a:r>
            <a:r>
              <a:rPr lang="ru-RU" sz="2400" dirty="0" err="1"/>
              <a:t>където</a:t>
            </a:r>
            <a:r>
              <a:rPr lang="ru-RU" sz="2400" dirty="0"/>
              <a:t> </a:t>
            </a:r>
            <a:r>
              <a:rPr lang="ru-RU" sz="2400" dirty="0" err="1"/>
              <a:t>пешеходците</a:t>
            </a:r>
            <a:r>
              <a:rPr lang="ru-RU" sz="2400" dirty="0"/>
              <a:t> </a:t>
            </a:r>
            <a:r>
              <a:rPr lang="ru-RU" sz="2400" dirty="0" err="1"/>
              <a:t>имат</a:t>
            </a:r>
            <a:r>
              <a:rPr lang="ru-RU" sz="2400" dirty="0"/>
              <a:t> </a:t>
            </a:r>
            <a:r>
              <a:rPr lang="ru-RU" sz="2400" dirty="0" err="1"/>
              <a:t>предимство</a:t>
            </a:r>
            <a:r>
              <a:rPr lang="ru-RU" sz="2400" dirty="0"/>
              <a:t>.</a:t>
            </a:r>
          </a:p>
        </p:txBody>
      </p:sp>
      <p:sp>
        <p:nvSpPr>
          <p:cNvPr id="8" name="TextBox 7">
            <a:extLst>
              <a:ext uri="{FF2B5EF4-FFF2-40B4-BE49-F238E27FC236}">
                <a16:creationId xmlns:a16="http://schemas.microsoft.com/office/drawing/2014/main" id="{A74E7E34-1604-8F6D-D6F8-5FEFDD02C1A0}"/>
              </a:ext>
            </a:extLst>
          </p:cNvPr>
          <p:cNvSpPr txBox="1"/>
          <p:nvPr/>
        </p:nvSpPr>
        <p:spPr>
          <a:xfrm>
            <a:off x="553720" y="316439"/>
            <a:ext cx="9825418" cy="1200329"/>
          </a:xfrm>
          <a:prstGeom prst="rect">
            <a:avLst/>
          </a:prstGeom>
          <a:noFill/>
        </p:spPr>
        <p:txBody>
          <a:bodyPr wrap="square" rtlCol="0">
            <a:spAutoFit/>
          </a:bodyPr>
          <a:lstStyle/>
          <a:p>
            <a:pPr algn="ctr"/>
            <a:r>
              <a:rPr lang="ru-RU" sz="3600" dirty="0"/>
              <a:t>2. </a:t>
            </a:r>
            <a:r>
              <a:rPr lang="ru-RU" sz="3600" dirty="0" err="1"/>
              <a:t>Пътни</a:t>
            </a:r>
            <a:r>
              <a:rPr lang="ru-RU" sz="3600" dirty="0"/>
              <a:t> </a:t>
            </a:r>
            <a:r>
              <a:rPr lang="ru-RU" sz="3600" dirty="0" err="1"/>
              <a:t>знаци</a:t>
            </a:r>
            <a:r>
              <a:rPr lang="ru-RU" sz="3600" dirty="0"/>
              <a:t> </a:t>
            </a:r>
            <a:r>
              <a:rPr lang="bg-BG" sz="3600" dirty="0"/>
              <a:t>със специални предписания </a:t>
            </a:r>
            <a:r>
              <a:rPr lang="ru-RU" sz="3600" dirty="0"/>
              <a:t>(</a:t>
            </a:r>
            <a:r>
              <a:rPr lang="ru-RU" sz="3600" dirty="0" err="1"/>
              <a:t>Група</a:t>
            </a:r>
            <a:r>
              <a:rPr lang="ru-RU" sz="3600" dirty="0"/>
              <a:t> "Д")</a:t>
            </a:r>
            <a:endParaRPr lang="en-US" sz="3600" dirty="0">
              <a:latin typeface="Georgia" panose="02040502050405020303" pitchFamily="18" charset="0"/>
            </a:endParaRPr>
          </a:p>
        </p:txBody>
      </p:sp>
      <p:pic>
        <p:nvPicPr>
          <p:cNvPr id="6162" name="Picture 18" descr="Пътен знак Д5 - Елит пътна сигнализация">
            <a:extLst>
              <a:ext uri="{FF2B5EF4-FFF2-40B4-BE49-F238E27FC236}">
                <a16:creationId xmlns:a16="http://schemas.microsoft.com/office/drawing/2014/main" id="{F83236A3-9398-F7A7-D2CC-E32FE9E2F97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514" t="2037" r="20482" b="3483"/>
          <a:stretch/>
        </p:blipFill>
        <p:spPr bwMode="auto">
          <a:xfrm>
            <a:off x="573849" y="3256044"/>
            <a:ext cx="401591" cy="562669"/>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6164" name="Picture 20" descr="Пътен знак Д7 - Елит пътна сигнализация">
            <a:extLst>
              <a:ext uri="{FF2B5EF4-FFF2-40B4-BE49-F238E27FC236}">
                <a16:creationId xmlns:a16="http://schemas.microsoft.com/office/drawing/2014/main" id="{B09251BF-3D2F-13F1-3DCF-C1E1F30DDD9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911" t="2584" r="16915" b="3033"/>
          <a:stretch/>
        </p:blipFill>
        <p:spPr bwMode="auto">
          <a:xfrm>
            <a:off x="553720" y="4127265"/>
            <a:ext cx="421720" cy="590871"/>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6168" name="Picture 24" descr="Пътен знак Д17 Пешеходна пътека">
            <a:extLst>
              <a:ext uri="{FF2B5EF4-FFF2-40B4-BE49-F238E27FC236}">
                <a16:creationId xmlns:a16="http://schemas.microsoft.com/office/drawing/2014/main" id="{BC09F563-6725-7E1A-C774-06C112158DB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672" t="7665" r="8623" b="7941"/>
          <a:stretch/>
        </p:blipFill>
        <p:spPr bwMode="auto">
          <a:xfrm>
            <a:off x="480654" y="5070213"/>
            <a:ext cx="586045" cy="590871"/>
          </a:xfrm>
          <a:prstGeom prst="rect">
            <a:avLst/>
          </a:prstGeom>
          <a:ln w="38100" cap="sq">
            <a:solidFill>
              <a:schemeClr val="tx1"/>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2505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7D754588-ACDA-78B4-4649-E5086F6F70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2EDDED-887D-696B-8C1A-F4CA67553043}"/>
              </a:ext>
            </a:extLst>
          </p:cNvPr>
          <p:cNvSpPr>
            <a:spLocks noGrp="1"/>
          </p:cNvSpPr>
          <p:nvPr>
            <p:ph idx="1"/>
          </p:nvPr>
        </p:nvSpPr>
        <p:spPr>
          <a:xfrm>
            <a:off x="843280" y="1981200"/>
            <a:ext cx="10791888" cy="3857625"/>
          </a:xfrm>
        </p:spPr>
        <p:txBody>
          <a:bodyPr>
            <a:noAutofit/>
          </a:bodyPr>
          <a:lstStyle/>
          <a:p>
            <a:pPr marL="0" indent="0">
              <a:buNone/>
            </a:pPr>
            <a:r>
              <a:rPr lang="ru-RU" sz="2400" dirty="0" err="1"/>
              <a:t>Тези</a:t>
            </a:r>
            <a:r>
              <a:rPr lang="ru-RU" sz="2400" dirty="0"/>
              <a:t> </a:t>
            </a:r>
            <a:r>
              <a:rPr lang="ru-RU" sz="2400" dirty="0" err="1"/>
              <a:t>знаци</a:t>
            </a:r>
            <a:r>
              <a:rPr lang="ru-RU" sz="2400" dirty="0"/>
              <a:t> </a:t>
            </a:r>
            <a:r>
              <a:rPr lang="ru-RU" sz="2400" b="1" dirty="0" err="1"/>
              <a:t>дават</a:t>
            </a:r>
            <a:r>
              <a:rPr lang="ru-RU" sz="2400" b="1" dirty="0"/>
              <a:t> полезна информация за услуги и </a:t>
            </a:r>
            <a:r>
              <a:rPr lang="ru-RU" sz="2400" b="1" dirty="0" err="1"/>
              <a:t>обекти</a:t>
            </a:r>
            <a:r>
              <a:rPr lang="ru-RU" sz="2400" b="1" dirty="0"/>
              <a:t> по </a:t>
            </a:r>
            <a:r>
              <a:rPr lang="ru-RU" sz="2400" b="1" dirty="0" err="1"/>
              <a:t>пътя</a:t>
            </a:r>
            <a:r>
              <a:rPr lang="ru-RU" sz="2400" dirty="0"/>
              <a:t>. Те не </a:t>
            </a:r>
            <a:r>
              <a:rPr lang="ru-RU" sz="2400" dirty="0" err="1"/>
              <a:t>налагат</a:t>
            </a:r>
            <a:r>
              <a:rPr lang="ru-RU" sz="2400" dirty="0"/>
              <a:t> </a:t>
            </a:r>
            <a:r>
              <a:rPr lang="ru-RU" sz="2400" dirty="0" err="1"/>
              <a:t>задължения</a:t>
            </a:r>
            <a:r>
              <a:rPr lang="ru-RU" sz="2400" dirty="0"/>
              <a:t>, а </a:t>
            </a:r>
            <a:r>
              <a:rPr lang="ru-RU" sz="2400" b="1" dirty="0" err="1"/>
              <a:t>подпомагат</a:t>
            </a:r>
            <a:r>
              <a:rPr lang="ru-RU" sz="2400" dirty="0"/>
              <a:t> </a:t>
            </a:r>
            <a:r>
              <a:rPr lang="ru-RU" sz="2400" b="1" dirty="0" err="1"/>
              <a:t>водачите</a:t>
            </a:r>
            <a:r>
              <a:rPr lang="ru-RU" sz="2400" dirty="0"/>
              <a:t>.</a:t>
            </a:r>
            <a:endParaRPr lang="ru-RU" sz="2400" b="1" dirty="0"/>
          </a:p>
          <a:p>
            <a:pPr lvl="1"/>
            <a:r>
              <a:rPr lang="ru-RU" sz="2400" b="1" dirty="0"/>
              <a:t>Е1 „</a:t>
            </a:r>
            <a:r>
              <a:rPr lang="ru-RU" sz="2400" b="1" dirty="0" err="1"/>
              <a:t>Медицински</a:t>
            </a:r>
            <a:r>
              <a:rPr lang="ru-RU" sz="2400" b="1" dirty="0"/>
              <a:t> пункт“:</a:t>
            </a:r>
            <a:r>
              <a:rPr lang="ru-RU" sz="2400" dirty="0"/>
              <a:t> </a:t>
            </a:r>
            <a:r>
              <a:rPr lang="ru-RU" sz="2400" dirty="0" err="1"/>
              <a:t>Указва</a:t>
            </a:r>
            <a:r>
              <a:rPr lang="ru-RU" sz="2400" dirty="0"/>
              <a:t> </a:t>
            </a:r>
            <a:r>
              <a:rPr lang="ru-RU" sz="2400" dirty="0" err="1"/>
              <a:t>местоположението</a:t>
            </a:r>
            <a:r>
              <a:rPr lang="ru-RU" sz="2400" dirty="0"/>
              <a:t> на </a:t>
            </a:r>
            <a:r>
              <a:rPr lang="ru-RU" sz="2400" dirty="0" err="1"/>
              <a:t>здравно</a:t>
            </a:r>
            <a:r>
              <a:rPr lang="ru-RU" sz="2400" dirty="0"/>
              <a:t> заведение или кабинет, </a:t>
            </a:r>
            <a:r>
              <a:rPr lang="ru-RU" sz="2400" dirty="0" err="1"/>
              <a:t>където</a:t>
            </a:r>
            <a:r>
              <a:rPr lang="ru-RU" sz="2400" dirty="0"/>
              <a:t> </a:t>
            </a:r>
            <a:r>
              <a:rPr lang="ru-RU" sz="2400" dirty="0" err="1"/>
              <a:t>може</a:t>
            </a:r>
            <a:r>
              <a:rPr lang="ru-RU" sz="2400" dirty="0"/>
              <a:t> да се получи </a:t>
            </a:r>
            <a:r>
              <a:rPr lang="ru-RU" sz="2400" dirty="0" err="1"/>
              <a:t>медицинска</a:t>
            </a:r>
            <a:r>
              <a:rPr lang="ru-RU" sz="2400" dirty="0"/>
              <a:t> </a:t>
            </a:r>
            <a:r>
              <a:rPr lang="ru-RU" sz="2400" dirty="0" err="1"/>
              <a:t>помощ</a:t>
            </a:r>
            <a:r>
              <a:rPr lang="ru-RU" sz="2400" dirty="0"/>
              <a:t>.</a:t>
            </a:r>
          </a:p>
          <a:p>
            <a:pPr lvl="1"/>
            <a:r>
              <a:rPr lang="ru-RU" sz="2400" b="1" dirty="0"/>
              <a:t>Е3 „Полиция“:</a:t>
            </a:r>
            <a:r>
              <a:rPr lang="ru-RU" sz="2400" dirty="0"/>
              <a:t> </a:t>
            </a:r>
            <a:r>
              <a:rPr lang="ru-RU" sz="2400" dirty="0" err="1"/>
              <a:t>Показва</a:t>
            </a:r>
            <a:r>
              <a:rPr lang="ru-RU" sz="2400" dirty="0"/>
              <a:t>, че в </a:t>
            </a:r>
            <a:r>
              <a:rPr lang="ru-RU" sz="2400" dirty="0" err="1"/>
              <a:t>близост</a:t>
            </a:r>
            <a:r>
              <a:rPr lang="ru-RU" sz="2400" dirty="0"/>
              <a:t> се </a:t>
            </a:r>
            <a:r>
              <a:rPr lang="ru-RU" sz="2400" dirty="0" err="1"/>
              <a:t>намира</a:t>
            </a:r>
            <a:r>
              <a:rPr lang="ru-RU" sz="2400" dirty="0"/>
              <a:t> </a:t>
            </a:r>
            <a:r>
              <a:rPr lang="ru-RU" sz="2400" dirty="0" err="1"/>
              <a:t>полицейско</a:t>
            </a:r>
            <a:r>
              <a:rPr lang="ru-RU" sz="2400" dirty="0"/>
              <a:t> управление или пост на </a:t>
            </a:r>
            <a:r>
              <a:rPr lang="ru-RU" sz="2400" dirty="0" err="1"/>
              <a:t>органите</a:t>
            </a:r>
            <a:r>
              <a:rPr lang="ru-RU" sz="2400" dirty="0"/>
              <a:t> на </a:t>
            </a:r>
            <a:r>
              <a:rPr lang="ru-RU" sz="2400" dirty="0" err="1"/>
              <a:t>реда</a:t>
            </a:r>
            <a:r>
              <a:rPr lang="ru-RU" sz="2400" dirty="0"/>
              <a:t>.</a:t>
            </a:r>
          </a:p>
          <a:p>
            <a:pPr lvl="1"/>
            <a:r>
              <a:rPr lang="ru-RU" sz="2400" b="1" dirty="0"/>
              <a:t>Е9 „Хотел или </a:t>
            </a:r>
            <a:r>
              <a:rPr lang="ru-RU" sz="2400" b="1" dirty="0" err="1"/>
              <a:t>мотел</a:t>
            </a:r>
            <a:r>
              <a:rPr lang="ru-RU" sz="2400" b="1" dirty="0"/>
              <a:t>“:</a:t>
            </a:r>
            <a:r>
              <a:rPr lang="ru-RU" sz="2400" dirty="0"/>
              <a:t> </a:t>
            </a:r>
            <a:r>
              <a:rPr lang="ru-RU" sz="2400" dirty="0" err="1"/>
              <a:t>Информира</a:t>
            </a:r>
            <a:r>
              <a:rPr lang="ru-RU" sz="2400" dirty="0"/>
              <a:t> </a:t>
            </a:r>
            <a:r>
              <a:rPr lang="ru-RU" sz="2400" dirty="0" err="1"/>
              <a:t>водачите</a:t>
            </a:r>
            <a:r>
              <a:rPr lang="ru-RU" sz="2400" dirty="0"/>
              <a:t> за </a:t>
            </a:r>
            <a:r>
              <a:rPr lang="ru-RU" sz="2400" dirty="0" err="1"/>
              <a:t>наличието</a:t>
            </a:r>
            <a:r>
              <a:rPr lang="ru-RU" sz="2400" dirty="0"/>
              <a:t> на </a:t>
            </a:r>
            <a:r>
              <a:rPr lang="ru-RU" sz="2400" dirty="0" err="1"/>
              <a:t>място</a:t>
            </a:r>
            <a:r>
              <a:rPr lang="ru-RU" sz="2400" dirty="0"/>
              <a:t> за </a:t>
            </a:r>
            <a:r>
              <a:rPr lang="ru-RU" sz="2400" dirty="0" err="1"/>
              <a:t>настаняване</a:t>
            </a:r>
            <a:r>
              <a:rPr lang="ru-RU" sz="2400" dirty="0"/>
              <a:t> и </a:t>
            </a:r>
            <a:r>
              <a:rPr lang="ru-RU" sz="2400" dirty="0" err="1"/>
              <a:t>нощувка</a:t>
            </a:r>
            <a:r>
              <a:rPr lang="ru-RU" sz="2400" dirty="0"/>
              <a:t> в </a:t>
            </a:r>
            <a:r>
              <a:rPr lang="ru-RU" sz="2400" dirty="0" err="1"/>
              <a:t>близост</a:t>
            </a:r>
            <a:r>
              <a:rPr lang="ru-RU" sz="2400" dirty="0"/>
              <a:t> до </a:t>
            </a:r>
            <a:r>
              <a:rPr lang="ru-RU" sz="2400" dirty="0" err="1"/>
              <a:t>пътя</a:t>
            </a:r>
            <a:r>
              <a:rPr lang="ru-RU" sz="2400" dirty="0"/>
              <a:t>.</a:t>
            </a:r>
          </a:p>
        </p:txBody>
      </p:sp>
      <p:sp>
        <p:nvSpPr>
          <p:cNvPr id="8" name="TextBox 7">
            <a:extLst>
              <a:ext uri="{FF2B5EF4-FFF2-40B4-BE49-F238E27FC236}">
                <a16:creationId xmlns:a16="http://schemas.microsoft.com/office/drawing/2014/main" id="{A74E7E34-1604-8F6D-D6F8-5FEFDD02C1A0}"/>
              </a:ext>
            </a:extLst>
          </p:cNvPr>
          <p:cNvSpPr txBox="1"/>
          <p:nvPr/>
        </p:nvSpPr>
        <p:spPr>
          <a:xfrm>
            <a:off x="556832" y="386519"/>
            <a:ext cx="9825418" cy="1200329"/>
          </a:xfrm>
          <a:prstGeom prst="rect">
            <a:avLst/>
          </a:prstGeom>
          <a:noFill/>
        </p:spPr>
        <p:txBody>
          <a:bodyPr wrap="square" rtlCol="0">
            <a:spAutoFit/>
          </a:bodyPr>
          <a:lstStyle/>
          <a:p>
            <a:pPr algn="ctr"/>
            <a:r>
              <a:rPr lang="ru-RU" sz="3600" dirty="0"/>
              <a:t>3. </a:t>
            </a:r>
            <a:r>
              <a:rPr lang="ru-RU" sz="3600" dirty="0" err="1"/>
              <a:t>Пътни</a:t>
            </a:r>
            <a:r>
              <a:rPr lang="ru-RU" sz="3600" dirty="0"/>
              <a:t> </a:t>
            </a:r>
            <a:r>
              <a:rPr lang="ru-RU" sz="3600" dirty="0" err="1"/>
              <a:t>знаци</a:t>
            </a:r>
            <a:r>
              <a:rPr lang="ru-RU" sz="3600" dirty="0"/>
              <a:t> за </a:t>
            </a:r>
            <a:r>
              <a:rPr lang="ru-RU" sz="3600" dirty="0" err="1"/>
              <a:t>допълнителна</a:t>
            </a:r>
            <a:r>
              <a:rPr lang="ru-RU" sz="3600" dirty="0"/>
              <a:t> информация (</a:t>
            </a:r>
            <a:r>
              <a:rPr lang="ru-RU" sz="3600" dirty="0" err="1"/>
              <a:t>Група</a:t>
            </a:r>
            <a:r>
              <a:rPr lang="ru-RU" sz="3600" dirty="0"/>
              <a:t> "Е")</a:t>
            </a:r>
            <a:endParaRPr lang="en-US" sz="3600" dirty="0">
              <a:latin typeface="Georgia" panose="02040502050405020303" pitchFamily="18" charset="0"/>
            </a:endParaRPr>
          </a:p>
        </p:txBody>
      </p:sp>
      <p:pic>
        <p:nvPicPr>
          <p:cNvPr id="6156" name="Picture 12">
            <a:extLst>
              <a:ext uri="{FF2B5EF4-FFF2-40B4-BE49-F238E27FC236}">
                <a16:creationId xmlns:a16="http://schemas.microsoft.com/office/drawing/2014/main" id="{E5B0E9A6-B7C7-4EF0-8795-23B5A16509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5074101"/>
            <a:ext cx="547687" cy="530279"/>
          </a:xfrm>
          <a:prstGeom prst="rect">
            <a:avLst/>
          </a:prstGeom>
          <a:noFill/>
          <a:extLst>
            <a:ext uri="{909E8E84-426E-40DD-AFC4-6F175D3DCCD1}">
              <a14:hiddenFill xmlns:a14="http://schemas.microsoft.com/office/drawing/2010/main">
                <a:solidFill>
                  <a:srgbClr val="FFFFFF"/>
                </a:solidFill>
              </a14:hiddenFill>
            </a:ext>
          </a:extLst>
        </p:spPr>
      </p:pic>
      <p:pic>
        <p:nvPicPr>
          <p:cNvPr id="6158" name="Picture 14" descr="пътен знак Е1 Елит">
            <a:extLst>
              <a:ext uri="{FF2B5EF4-FFF2-40B4-BE49-F238E27FC236}">
                <a16:creationId xmlns:a16="http://schemas.microsoft.com/office/drawing/2014/main" id="{F274F0CA-E386-F852-12B8-2B9B09990E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832" y="2941848"/>
            <a:ext cx="571500" cy="578827"/>
          </a:xfrm>
          <a:prstGeom prst="rect">
            <a:avLst/>
          </a:prstGeom>
          <a:noFill/>
          <a:extLst>
            <a:ext uri="{909E8E84-426E-40DD-AFC4-6F175D3DCCD1}">
              <a14:hiddenFill xmlns:a14="http://schemas.microsoft.com/office/drawing/2010/main">
                <a:solidFill>
                  <a:srgbClr val="FFFFFF"/>
                </a:solidFill>
              </a14:hiddenFill>
            </a:ext>
          </a:extLst>
        </p:spPr>
      </p:pic>
      <p:pic>
        <p:nvPicPr>
          <p:cNvPr id="6160" name="Picture 16" descr="пътен знак Е3 Елит">
            <a:extLst>
              <a:ext uri="{FF2B5EF4-FFF2-40B4-BE49-F238E27FC236}">
                <a16:creationId xmlns:a16="http://schemas.microsoft.com/office/drawing/2014/main" id="{1C1A2C5B-F142-1B35-4448-7F3FF99E1B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832" y="4100922"/>
            <a:ext cx="587597" cy="5788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1702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5348884F-9923-652F-3C31-B97C6FE373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E5D274-F315-25B5-4929-4B38D0961A73}"/>
              </a:ext>
            </a:extLst>
          </p:cNvPr>
          <p:cNvSpPr>
            <a:spLocks noGrp="1"/>
          </p:cNvSpPr>
          <p:nvPr>
            <p:ph idx="1"/>
          </p:nvPr>
        </p:nvSpPr>
        <p:spPr>
          <a:xfrm>
            <a:off x="516294" y="3094731"/>
            <a:ext cx="5579706" cy="2905017"/>
          </a:xfrm>
        </p:spPr>
        <p:txBody>
          <a:bodyPr>
            <a:noAutofit/>
          </a:bodyPr>
          <a:lstStyle/>
          <a:p>
            <a:pPr marL="0" indent="0" algn="ctr">
              <a:buNone/>
            </a:pPr>
            <a:r>
              <a:rPr lang="ru-RU" sz="2400" dirty="0" err="1">
                <a:latin typeface="+mn-lt"/>
              </a:rPr>
              <a:t>Когато</a:t>
            </a:r>
            <a:r>
              <a:rPr lang="ru-RU" sz="2400" dirty="0">
                <a:latin typeface="+mn-lt"/>
              </a:rPr>
              <a:t> линейки, </a:t>
            </a:r>
            <a:r>
              <a:rPr lang="ru-RU" sz="2400" dirty="0" err="1">
                <a:latin typeface="+mn-lt"/>
              </a:rPr>
              <a:t>пожарни</a:t>
            </a:r>
            <a:r>
              <a:rPr lang="ru-RU" sz="2400" dirty="0">
                <a:latin typeface="+mn-lt"/>
              </a:rPr>
              <a:t> или </a:t>
            </a:r>
            <a:r>
              <a:rPr lang="ru-RU" sz="2400" dirty="0" err="1">
                <a:latin typeface="+mn-lt"/>
              </a:rPr>
              <a:t>полицейски</a:t>
            </a:r>
            <a:r>
              <a:rPr lang="ru-RU" sz="2400" dirty="0">
                <a:latin typeface="+mn-lt"/>
              </a:rPr>
              <a:t> коли </a:t>
            </a:r>
            <a:r>
              <a:rPr lang="ru-RU" sz="2400" dirty="0" err="1">
                <a:latin typeface="+mn-lt"/>
              </a:rPr>
              <a:t>са</a:t>
            </a:r>
            <a:r>
              <a:rPr lang="ru-RU" sz="2400" dirty="0">
                <a:latin typeface="+mn-lt"/>
              </a:rPr>
              <a:t> с </a:t>
            </a:r>
            <a:r>
              <a:rPr lang="ru-RU" sz="2400" dirty="0" err="1">
                <a:latin typeface="+mn-lt"/>
              </a:rPr>
              <a:t>включени</a:t>
            </a:r>
            <a:r>
              <a:rPr lang="ru-RU" sz="2400" dirty="0">
                <a:latin typeface="+mn-lt"/>
              </a:rPr>
              <a:t> </a:t>
            </a:r>
            <a:r>
              <a:rPr lang="ru-RU" sz="2400" dirty="0" err="1">
                <a:latin typeface="+mn-lt"/>
              </a:rPr>
              <a:t>светлини</a:t>
            </a:r>
            <a:r>
              <a:rPr lang="ru-RU" sz="2400" dirty="0">
                <a:latin typeface="+mn-lt"/>
              </a:rPr>
              <a:t> и сирени, те </a:t>
            </a:r>
            <a:r>
              <a:rPr lang="ru-RU" sz="2400" dirty="0" err="1">
                <a:latin typeface="+mn-lt"/>
              </a:rPr>
              <a:t>имат</a:t>
            </a:r>
            <a:r>
              <a:rPr lang="ru-RU" sz="2400" dirty="0">
                <a:latin typeface="+mn-lt"/>
              </a:rPr>
              <a:t> </a:t>
            </a:r>
            <a:r>
              <a:rPr lang="ru-RU" sz="2400" dirty="0" err="1">
                <a:latin typeface="+mn-lt"/>
              </a:rPr>
              <a:t>пълно</a:t>
            </a:r>
            <a:r>
              <a:rPr lang="ru-RU" sz="2400" dirty="0">
                <a:latin typeface="+mn-lt"/>
              </a:rPr>
              <a:t> </a:t>
            </a:r>
            <a:r>
              <a:rPr lang="ru-RU" sz="2400" dirty="0" err="1">
                <a:latin typeface="+mn-lt"/>
              </a:rPr>
              <a:t>предимство</a:t>
            </a:r>
            <a:r>
              <a:rPr lang="ru-RU" sz="2400" dirty="0">
                <a:latin typeface="+mn-lt"/>
              </a:rPr>
              <a:t> и </a:t>
            </a:r>
            <a:r>
              <a:rPr lang="ru-RU" sz="2400" dirty="0" err="1">
                <a:latin typeface="+mn-lt"/>
              </a:rPr>
              <a:t>всички</a:t>
            </a:r>
            <a:r>
              <a:rPr lang="ru-RU" sz="2400" dirty="0">
                <a:latin typeface="+mn-lt"/>
              </a:rPr>
              <a:t> </a:t>
            </a:r>
            <a:r>
              <a:rPr lang="ru-RU" sz="2400" dirty="0" err="1">
                <a:latin typeface="+mn-lt"/>
              </a:rPr>
              <a:t>останали</a:t>
            </a:r>
            <a:r>
              <a:rPr lang="ru-RU" sz="2400" dirty="0">
                <a:latin typeface="+mn-lt"/>
              </a:rPr>
              <a:t> </a:t>
            </a:r>
            <a:r>
              <a:rPr lang="ru-RU" sz="2400" dirty="0" err="1">
                <a:latin typeface="+mn-lt"/>
              </a:rPr>
              <a:t>са</a:t>
            </a:r>
            <a:r>
              <a:rPr lang="ru-RU" sz="2400" dirty="0">
                <a:latin typeface="+mn-lt"/>
              </a:rPr>
              <a:t> </a:t>
            </a:r>
            <a:r>
              <a:rPr lang="ru-RU" sz="2400" dirty="0" err="1">
                <a:latin typeface="+mn-lt"/>
              </a:rPr>
              <a:t>длъжни</a:t>
            </a:r>
            <a:r>
              <a:rPr lang="ru-RU" sz="2400" dirty="0">
                <a:latin typeface="+mn-lt"/>
              </a:rPr>
              <a:t> </a:t>
            </a:r>
            <a:r>
              <a:rPr lang="ru-RU" sz="2400" dirty="0" err="1">
                <a:latin typeface="+mn-lt"/>
              </a:rPr>
              <a:t>веднага</a:t>
            </a:r>
            <a:r>
              <a:rPr lang="ru-RU" sz="2400" dirty="0">
                <a:latin typeface="+mn-lt"/>
              </a:rPr>
              <a:t> да им направят </a:t>
            </a:r>
            <a:r>
              <a:rPr lang="ru-RU" sz="2400" dirty="0" err="1">
                <a:latin typeface="+mn-lt"/>
              </a:rPr>
              <a:t>път</a:t>
            </a:r>
            <a:r>
              <a:rPr lang="ru-RU" sz="2400" dirty="0">
                <a:latin typeface="+mn-lt"/>
              </a:rPr>
              <a:t>, за да </a:t>
            </a:r>
            <a:r>
              <a:rPr lang="ru-RU" sz="2400" dirty="0" err="1">
                <a:latin typeface="+mn-lt"/>
              </a:rPr>
              <a:t>могат</a:t>
            </a:r>
            <a:r>
              <a:rPr lang="ru-RU" sz="2400" dirty="0">
                <a:latin typeface="+mn-lt"/>
              </a:rPr>
              <a:t> </a:t>
            </a:r>
            <a:r>
              <a:rPr lang="ru-RU" sz="2400" dirty="0" err="1">
                <a:latin typeface="+mn-lt"/>
              </a:rPr>
              <a:t>екипите</a:t>
            </a:r>
            <a:r>
              <a:rPr lang="ru-RU" sz="2400" dirty="0">
                <a:latin typeface="+mn-lt"/>
              </a:rPr>
              <a:t> да </a:t>
            </a:r>
            <a:r>
              <a:rPr lang="ru-RU" sz="2400" dirty="0" err="1">
                <a:latin typeface="+mn-lt"/>
              </a:rPr>
              <a:t>спасят</a:t>
            </a:r>
            <a:r>
              <a:rPr lang="ru-RU" sz="2400" dirty="0">
                <a:latin typeface="+mn-lt"/>
              </a:rPr>
              <a:t> </a:t>
            </a:r>
            <a:r>
              <a:rPr lang="ru-RU" sz="2400" dirty="0" err="1">
                <a:latin typeface="+mn-lt"/>
              </a:rPr>
              <a:t>човешки</a:t>
            </a:r>
            <a:r>
              <a:rPr lang="ru-RU" sz="2400" dirty="0">
                <a:latin typeface="+mn-lt"/>
              </a:rPr>
              <a:t> живот.</a:t>
            </a:r>
            <a:endParaRPr lang="bg-BG" sz="2400" dirty="0">
              <a:latin typeface="+mn-lt"/>
            </a:endParaRPr>
          </a:p>
        </p:txBody>
      </p:sp>
      <p:sp>
        <p:nvSpPr>
          <p:cNvPr id="8" name="TextBox 7">
            <a:extLst>
              <a:ext uri="{FF2B5EF4-FFF2-40B4-BE49-F238E27FC236}">
                <a16:creationId xmlns:a16="http://schemas.microsoft.com/office/drawing/2014/main" id="{74E49EFD-FA1E-4504-E340-3E693768517A}"/>
              </a:ext>
            </a:extLst>
          </p:cNvPr>
          <p:cNvSpPr txBox="1"/>
          <p:nvPr/>
        </p:nvSpPr>
        <p:spPr>
          <a:xfrm>
            <a:off x="170690" y="767153"/>
            <a:ext cx="5925310" cy="1754326"/>
          </a:xfrm>
          <a:prstGeom prst="rect">
            <a:avLst/>
          </a:prstGeom>
          <a:noFill/>
        </p:spPr>
        <p:txBody>
          <a:bodyPr wrap="square" rtlCol="0">
            <a:spAutoFit/>
          </a:bodyPr>
          <a:lstStyle/>
          <a:p>
            <a:pPr algn="ctr"/>
            <a:r>
              <a:rPr lang="ru-RU" sz="3600" dirty="0" err="1">
                <a:latin typeface="+mj-lt"/>
              </a:rPr>
              <a:t>Моторни</a:t>
            </a:r>
            <a:r>
              <a:rPr lang="ru-RU" sz="3600" dirty="0">
                <a:latin typeface="+mj-lt"/>
              </a:rPr>
              <a:t> </a:t>
            </a:r>
            <a:r>
              <a:rPr lang="ru-RU" sz="3600" dirty="0" err="1">
                <a:latin typeface="+mj-lt"/>
              </a:rPr>
              <a:t>превозни</a:t>
            </a:r>
            <a:r>
              <a:rPr lang="ru-RU" sz="3600" dirty="0">
                <a:latin typeface="+mj-lt"/>
              </a:rPr>
              <a:t> средства </a:t>
            </a:r>
            <a:r>
              <a:rPr lang="ru-RU" sz="3600" dirty="0" err="1">
                <a:latin typeface="+mj-lt"/>
              </a:rPr>
              <a:t>със</a:t>
            </a:r>
            <a:r>
              <a:rPr lang="ru-RU" sz="3600" dirty="0">
                <a:latin typeface="+mj-lt"/>
              </a:rPr>
              <a:t> </a:t>
            </a:r>
            <a:r>
              <a:rPr lang="ru-RU" sz="3600" dirty="0" err="1">
                <a:latin typeface="+mj-lt"/>
              </a:rPr>
              <a:t>специален</a:t>
            </a:r>
            <a:r>
              <a:rPr lang="ru-RU" sz="3600" dirty="0">
                <a:latin typeface="+mj-lt"/>
              </a:rPr>
              <a:t> режим</a:t>
            </a:r>
            <a:endParaRPr lang="en-US" sz="3600" dirty="0">
              <a:latin typeface="+mj-lt"/>
            </a:endParaRPr>
          </a:p>
        </p:txBody>
      </p:sp>
      <p:pic>
        <p:nvPicPr>
          <p:cNvPr id="4098" name="Picture 2" descr="Задържаха 36-годишен и трима непълнолетни, разбили полицейска кола в Смолян">
            <a:extLst>
              <a:ext uri="{FF2B5EF4-FFF2-40B4-BE49-F238E27FC236}">
                <a16:creationId xmlns:a16="http://schemas.microsoft.com/office/drawing/2014/main" id="{3AA3D26C-D961-7612-DE10-C042675D1F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12840" y="2040916"/>
            <a:ext cx="5579706" cy="371980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886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5348884F-9923-652F-3C31-B97C6FE3732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4E49EFD-FA1E-4504-E340-3E693768517A}"/>
              </a:ext>
            </a:extLst>
          </p:cNvPr>
          <p:cNvSpPr txBox="1"/>
          <p:nvPr/>
        </p:nvSpPr>
        <p:spPr>
          <a:xfrm>
            <a:off x="170690" y="767153"/>
            <a:ext cx="10029950" cy="1200329"/>
          </a:xfrm>
          <a:prstGeom prst="rect">
            <a:avLst/>
          </a:prstGeom>
          <a:noFill/>
        </p:spPr>
        <p:txBody>
          <a:bodyPr wrap="square" rtlCol="0">
            <a:spAutoFit/>
          </a:bodyPr>
          <a:lstStyle/>
          <a:p>
            <a:pPr algn="ctr"/>
            <a:r>
              <a:rPr lang="ru-RU" sz="3600" dirty="0" err="1">
                <a:latin typeface="+mj-lt"/>
              </a:rPr>
              <a:t>Моторни</a:t>
            </a:r>
            <a:r>
              <a:rPr lang="ru-RU" sz="3600" dirty="0">
                <a:latin typeface="+mj-lt"/>
              </a:rPr>
              <a:t> </a:t>
            </a:r>
            <a:r>
              <a:rPr lang="ru-RU" sz="3600" dirty="0" err="1">
                <a:latin typeface="+mj-lt"/>
              </a:rPr>
              <a:t>превозни</a:t>
            </a:r>
            <a:r>
              <a:rPr lang="ru-RU" sz="3600" dirty="0">
                <a:latin typeface="+mj-lt"/>
              </a:rPr>
              <a:t> средства </a:t>
            </a:r>
            <a:r>
              <a:rPr lang="ru-RU" sz="3600" dirty="0" err="1">
                <a:latin typeface="+mj-lt"/>
              </a:rPr>
              <a:t>със</a:t>
            </a:r>
            <a:r>
              <a:rPr lang="ru-RU" sz="3600" dirty="0">
                <a:latin typeface="+mj-lt"/>
              </a:rPr>
              <a:t> </a:t>
            </a:r>
            <a:r>
              <a:rPr lang="ru-RU" sz="3600" dirty="0" err="1">
                <a:latin typeface="+mj-lt"/>
              </a:rPr>
              <a:t>специален</a:t>
            </a:r>
            <a:r>
              <a:rPr lang="ru-RU" sz="3600" dirty="0">
                <a:latin typeface="+mj-lt"/>
              </a:rPr>
              <a:t> режим</a:t>
            </a:r>
            <a:endParaRPr lang="en-US" sz="3600" dirty="0">
              <a:latin typeface="+mj-lt"/>
            </a:endParaRPr>
          </a:p>
        </p:txBody>
      </p:sp>
      <p:sp>
        <p:nvSpPr>
          <p:cNvPr id="4" name="Rectangle 2">
            <a:extLst>
              <a:ext uri="{FF2B5EF4-FFF2-40B4-BE49-F238E27FC236}">
                <a16:creationId xmlns:a16="http://schemas.microsoft.com/office/drawing/2014/main" id="{86A07505-5B59-A6F8-6E9F-0143467B9288}"/>
              </a:ext>
            </a:extLst>
          </p:cNvPr>
          <p:cNvSpPr>
            <a:spLocks noGrp="1" noChangeArrowheads="1"/>
          </p:cNvSpPr>
          <p:nvPr>
            <p:ph idx="1"/>
          </p:nvPr>
        </p:nvSpPr>
        <p:spPr bwMode="auto">
          <a:xfrm>
            <a:off x="892050" y="2384899"/>
            <a:ext cx="909896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pPr>
            <a:r>
              <a:rPr kumimoji="0" lang="bg-BG" altLang="bg-BG" sz="2400" b="1" i="0" u="none" strike="noStrike" cap="none" normalizeH="0" baseline="0" dirty="0">
                <a:ln>
                  <a:noFill/>
                </a:ln>
                <a:solidFill>
                  <a:schemeClr val="tx1"/>
                </a:solidFill>
                <a:effectLst/>
                <a:latin typeface="+mn-lt"/>
              </a:rPr>
              <a:t>Линейки</a:t>
            </a:r>
            <a:r>
              <a:rPr kumimoji="0" lang="bg-BG" altLang="bg-BG" sz="2400" b="0" i="0" u="none" strike="noStrike" cap="none" normalizeH="0" baseline="0" dirty="0">
                <a:ln>
                  <a:noFill/>
                </a:ln>
                <a:solidFill>
                  <a:schemeClr val="tx1"/>
                </a:solidFill>
                <a:effectLst/>
                <a:latin typeface="+mn-lt"/>
              </a:rPr>
              <a:t> (спешна медицинска помощ) </a:t>
            </a:r>
          </a:p>
          <a:p>
            <a:pPr defTabSz="914400" eaLnBrk="0" fontAlgn="base" hangingPunct="0">
              <a:spcBef>
                <a:spcPct val="0"/>
              </a:spcBef>
              <a:spcAft>
                <a:spcPct val="0"/>
              </a:spcAft>
              <a:buClrTx/>
              <a:buSzTx/>
            </a:pPr>
            <a:r>
              <a:rPr kumimoji="0" lang="bg-BG" altLang="bg-BG" sz="2400" b="1" i="0" u="none" strike="noStrike" cap="none" normalizeH="0" baseline="0" dirty="0">
                <a:ln>
                  <a:noFill/>
                </a:ln>
                <a:solidFill>
                  <a:schemeClr val="tx1"/>
                </a:solidFill>
                <a:effectLst/>
                <a:latin typeface="+mn-lt"/>
              </a:rPr>
              <a:t>Пожарни автомобили</a:t>
            </a:r>
            <a:r>
              <a:rPr kumimoji="0" lang="bg-BG" altLang="bg-BG" sz="2400" b="0" i="0" u="none" strike="noStrike" cap="none" normalizeH="0" baseline="0" dirty="0">
                <a:ln>
                  <a:noFill/>
                </a:ln>
                <a:solidFill>
                  <a:schemeClr val="tx1"/>
                </a:solidFill>
                <a:effectLst/>
                <a:latin typeface="+mn-lt"/>
              </a:rPr>
              <a:t> </a:t>
            </a:r>
          </a:p>
          <a:p>
            <a:pPr defTabSz="914400" eaLnBrk="0" fontAlgn="base" hangingPunct="0">
              <a:spcBef>
                <a:spcPct val="0"/>
              </a:spcBef>
              <a:spcAft>
                <a:spcPct val="0"/>
              </a:spcAft>
              <a:buClrTx/>
              <a:buSzTx/>
            </a:pPr>
            <a:r>
              <a:rPr kumimoji="0" lang="bg-BG" altLang="bg-BG" sz="2400" b="1" i="0" u="none" strike="noStrike" cap="none" normalizeH="0" baseline="0" dirty="0">
                <a:ln>
                  <a:noFill/>
                </a:ln>
                <a:solidFill>
                  <a:schemeClr val="tx1"/>
                </a:solidFill>
                <a:effectLst/>
                <a:latin typeface="+mn-lt"/>
              </a:rPr>
              <a:t>Полицейски автомобили</a:t>
            </a:r>
            <a:r>
              <a:rPr kumimoji="0" lang="bg-BG" altLang="bg-BG" sz="2400" b="0" i="0" u="none" strike="noStrike" cap="none" normalizeH="0" baseline="0" dirty="0">
                <a:ln>
                  <a:noFill/>
                </a:ln>
                <a:solidFill>
                  <a:schemeClr val="tx1"/>
                </a:solidFill>
                <a:effectLst/>
                <a:latin typeface="+mn-lt"/>
              </a:rPr>
              <a:t> </a:t>
            </a:r>
          </a:p>
          <a:p>
            <a:pPr defTabSz="914400" eaLnBrk="0" fontAlgn="base" hangingPunct="0">
              <a:spcBef>
                <a:spcPct val="0"/>
              </a:spcBef>
              <a:spcAft>
                <a:spcPct val="0"/>
              </a:spcAft>
              <a:buClrTx/>
              <a:buSzTx/>
            </a:pPr>
            <a:r>
              <a:rPr kumimoji="0" lang="bg-BG" altLang="bg-BG" sz="2400" b="1" i="0" u="none" strike="noStrike" cap="none" normalizeH="0" baseline="0" dirty="0">
                <a:ln>
                  <a:noFill/>
                </a:ln>
                <a:solidFill>
                  <a:schemeClr val="tx1"/>
                </a:solidFill>
                <a:effectLst/>
                <a:latin typeface="+mn-lt"/>
              </a:rPr>
              <a:t>Специализирани аварийни и спасителни автомобили</a:t>
            </a:r>
            <a:r>
              <a:rPr kumimoji="0" lang="bg-BG" altLang="bg-BG" sz="2400" b="0" i="0" u="none" strike="noStrike" cap="none" normalizeH="0" baseline="0" dirty="0">
                <a:ln>
                  <a:noFill/>
                </a:ln>
                <a:solidFill>
                  <a:schemeClr val="tx1"/>
                </a:solidFill>
                <a:effectLst/>
                <a:latin typeface="+mn-lt"/>
              </a:rPr>
              <a:t> </a:t>
            </a:r>
          </a:p>
        </p:txBody>
      </p:sp>
      <p:pic>
        <p:nvPicPr>
          <p:cNvPr id="7172" name="Picture 4" descr="Линейка – Уикипедия">
            <a:extLst>
              <a:ext uri="{FF2B5EF4-FFF2-40B4-BE49-F238E27FC236}">
                <a16:creationId xmlns:a16="http://schemas.microsoft.com/office/drawing/2014/main" id="{8CAD7288-B00D-9948-6848-E9DE4839C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8138" y="4410075"/>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МЕРКИ ЗА ПОЖАРНА БЕЗОПАСНОСТ И ПРАВИЛА | Община Ловеч">
            <a:extLst>
              <a:ext uri="{FF2B5EF4-FFF2-40B4-BE49-F238E27FC236}">
                <a16:creationId xmlns:a16="http://schemas.microsoft.com/office/drawing/2014/main" id="{0F830064-5895-61FD-38CA-7D00B7DDD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88494" y="4448173"/>
            <a:ext cx="2524125" cy="180975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Инцидент с полицейска кола в София тази вечер - Столица.bg">
            <a:extLst>
              <a:ext uri="{FF2B5EF4-FFF2-40B4-BE49-F238E27FC236}">
                <a16:creationId xmlns:a16="http://schemas.microsoft.com/office/drawing/2014/main" id="{A1436940-34F3-BFDB-C108-7128C9DF7D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4448173"/>
            <a:ext cx="3220922" cy="1809749"/>
          </a:xfrm>
          <a:prstGeom prst="rect">
            <a:avLst/>
          </a:prstGeom>
          <a:noFill/>
          <a:extLst>
            <a:ext uri="{909E8E84-426E-40DD-AFC4-6F175D3DCCD1}">
              <a14:hiddenFill xmlns:a14="http://schemas.microsoft.com/office/drawing/2010/main">
                <a:solidFill>
                  <a:srgbClr val="FFFFFF"/>
                </a:solidFill>
              </a14:hiddenFill>
            </a:ext>
          </a:extLst>
        </p:spPr>
      </p:pic>
      <p:pic>
        <p:nvPicPr>
          <p:cNvPr id="7180" name="Picture 12" descr="➤ Пожарни и спасителни автомобили втора употреба за продажба (209 обяви) -  Machineseeker.bg 🏷️">
            <a:extLst>
              <a:ext uri="{FF2B5EF4-FFF2-40B4-BE49-F238E27FC236}">
                <a16:creationId xmlns:a16="http://schemas.microsoft.com/office/drawing/2014/main" id="{BAB654E4-AD53-85BD-711F-295C66A277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36341" y="4448174"/>
            <a:ext cx="2412997" cy="1809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1552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44893991-A557-73CB-2BBD-6DEB7F8A40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3D247E-4C16-391A-DC2E-E003E9394EF9}"/>
              </a:ext>
            </a:extLst>
          </p:cNvPr>
          <p:cNvSpPr>
            <a:spLocks noGrp="1"/>
          </p:cNvSpPr>
          <p:nvPr>
            <p:ph idx="1"/>
          </p:nvPr>
        </p:nvSpPr>
        <p:spPr>
          <a:xfrm>
            <a:off x="5760720" y="2628778"/>
            <a:ext cx="5699760" cy="2937832"/>
          </a:xfrm>
        </p:spPr>
        <p:txBody>
          <a:bodyPr>
            <a:noAutofit/>
          </a:bodyPr>
          <a:lstStyle/>
          <a:p>
            <a:pPr marL="0" indent="0" algn="ctr">
              <a:buNone/>
            </a:pPr>
            <a:r>
              <a:rPr lang="ru-RU" sz="2400" dirty="0" err="1">
                <a:latin typeface="+mn-lt"/>
              </a:rPr>
              <a:t>Алкохолът</a:t>
            </a:r>
            <a:r>
              <a:rPr lang="ru-RU" sz="2400" dirty="0">
                <a:latin typeface="+mn-lt"/>
              </a:rPr>
              <a:t> е </a:t>
            </a:r>
            <a:r>
              <a:rPr lang="ru-RU" sz="2400" dirty="0" err="1">
                <a:latin typeface="+mn-lt"/>
              </a:rPr>
              <a:t>изключително</a:t>
            </a:r>
            <a:r>
              <a:rPr lang="ru-RU" sz="2400" dirty="0">
                <a:latin typeface="+mn-lt"/>
              </a:rPr>
              <a:t> опасен, </a:t>
            </a:r>
            <a:r>
              <a:rPr lang="ru-RU" sz="2400" dirty="0" err="1">
                <a:latin typeface="+mn-lt"/>
              </a:rPr>
              <a:t>защото</a:t>
            </a:r>
            <a:r>
              <a:rPr lang="ru-RU" sz="2400" dirty="0">
                <a:latin typeface="+mn-lt"/>
              </a:rPr>
              <a:t> забавя </a:t>
            </a:r>
            <a:r>
              <a:rPr lang="ru-RU" sz="2400" dirty="0" err="1">
                <a:latin typeface="+mn-lt"/>
              </a:rPr>
              <a:t>реакциите</a:t>
            </a:r>
            <a:r>
              <a:rPr lang="ru-RU" sz="2400" dirty="0">
                <a:latin typeface="+mn-lt"/>
              </a:rPr>
              <a:t> и </a:t>
            </a:r>
            <a:r>
              <a:rPr lang="ru-RU" sz="2400" dirty="0" err="1">
                <a:latin typeface="+mn-lt"/>
              </a:rPr>
              <a:t>пречи</a:t>
            </a:r>
            <a:r>
              <a:rPr lang="ru-RU" sz="2400" dirty="0">
                <a:latin typeface="+mn-lt"/>
              </a:rPr>
              <a:t> на </a:t>
            </a:r>
            <a:r>
              <a:rPr lang="ru-RU" sz="2400" dirty="0" err="1">
                <a:latin typeface="+mn-lt"/>
              </a:rPr>
              <a:t>шофьора</a:t>
            </a:r>
            <a:r>
              <a:rPr lang="ru-RU" sz="2400" dirty="0">
                <a:latin typeface="+mn-lt"/>
              </a:rPr>
              <a:t> да </a:t>
            </a:r>
            <a:r>
              <a:rPr lang="ru-RU" sz="2400" dirty="0" err="1">
                <a:latin typeface="+mn-lt"/>
              </a:rPr>
              <a:t>преценява</a:t>
            </a:r>
            <a:r>
              <a:rPr lang="ru-RU" sz="2400" dirty="0">
                <a:latin typeface="+mn-lt"/>
              </a:rPr>
              <a:t> </a:t>
            </a:r>
            <a:r>
              <a:rPr lang="ru-RU" sz="2400" dirty="0" err="1">
                <a:latin typeface="+mn-lt"/>
              </a:rPr>
              <a:t>правилно</a:t>
            </a:r>
            <a:r>
              <a:rPr lang="ru-RU" sz="2400" dirty="0">
                <a:latin typeface="+mn-lt"/>
              </a:rPr>
              <a:t> </a:t>
            </a:r>
            <a:r>
              <a:rPr lang="ru-RU" sz="2400" dirty="0" err="1">
                <a:latin typeface="+mn-lt"/>
              </a:rPr>
              <a:t>скоростта</a:t>
            </a:r>
            <a:r>
              <a:rPr lang="ru-RU" sz="2400" dirty="0">
                <a:latin typeface="+mn-lt"/>
              </a:rPr>
              <a:t> и </a:t>
            </a:r>
            <a:r>
              <a:rPr lang="ru-RU" sz="2400" dirty="0" err="1">
                <a:latin typeface="+mn-lt"/>
              </a:rPr>
              <a:t>разстоянието</a:t>
            </a:r>
            <a:r>
              <a:rPr lang="ru-RU" sz="2400" dirty="0">
                <a:latin typeface="+mn-lt"/>
              </a:rPr>
              <a:t>. Той </a:t>
            </a:r>
            <a:r>
              <a:rPr lang="ru-RU" sz="2400" dirty="0" err="1">
                <a:latin typeface="+mn-lt"/>
              </a:rPr>
              <a:t>стеснява</a:t>
            </a:r>
            <a:r>
              <a:rPr lang="ru-RU" sz="2400" dirty="0">
                <a:latin typeface="+mn-lt"/>
              </a:rPr>
              <a:t> </a:t>
            </a:r>
            <a:r>
              <a:rPr lang="ru-RU" sz="2400" dirty="0" err="1">
                <a:latin typeface="+mn-lt"/>
              </a:rPr>
              <a:t>зрението</a:t>
            </a:r>
            <a:r>
              <a:rPr lang="ru-RU" sz="2400" dirty="0">
                <a:latin typeface="+mn-lt"/>
              </a:rPr>
              <a:t> и </a:t>
            </a:r>
            <a:r>
              <a:rPr lang="ru-RU" sz="2400" dirty="0" err="1">
                <a:latin typeface="+mn-lt"/>
              </a:rPr>
              <a:t>прави</a:t>
            </a:r>
            <a:r>
              <a:rPr lang="ru-RU" sz="2400" dirty="0">
                <a:latin typeface="+mn-lt"/>
              </a:rPr>
              <a:t> </a:t>
            </a:r>
            <a:r>
              <a:rPr lang="ru-RU" sz="2400" dirty="0" err="1">
                <a:latin typeface="+mn-lt"/>
              </a:rPr>
              <a:t>невъзможно</a:t>
            </a:r>
            <a:r>
              <a:rPr lang="ru-RU" sz="2400" dirty="0">
                <a:latin typeface="+mn-lt"/>
              </a:rPr>
              <a:t> </a:t>
            </a:r>
            <a:r>
              <a:rPr lang="ru-RU" sz="2400" dirty="0" err="1">
                <a:latin typeface="+mn-lt"/>
              </a:rPr>
              <a:t>бързото</a:t>
            </a:r>
            <a:r>
              <a:rPr lang="ru-RU" sz="2400" dirty="0">
                <a:latin typeface="+mn-lt"/>
              </a:rPr>
              <a:t> </a:t>
            </a:r>
            <a:r>
              <a:rPr lang="ru-RU" sz="2400" dirty="0" err="1">
                <a:latin typeface="+mn-lt"/>
              </a:rPr>
              <a:t>реагиране</a:t>
            </a:r>
            <a:r>
              <a:rPr lang="ru-RU" sz="2400" dirty="0">
                <a:latin typeface="+mn-lt"/>
              </a:rPr>
              <a:t> при </a:t>
            </a:r>
            <a:r>
              <a:rPr lang="ru-RU" sz="2400" dirty="0" err="1">
                <a:latin typeface="+mn-lt"/>
              </a:rPr>
              <a:t>поява</a:t>
            </a:r>
            <a:r>
              <a:rPr lang="ru-RU" sz="2400" dirty="0">
                <a:latin typeface="+mn-lt"/>
              </a:rPr>
              <a:t> на внезапна </a:t>
            </a:r>
            <a:r>
              <a:rPr lang="ru-RU" sz="2400" dirty="0" err="1">
                <a:latin typeface="+mn-lt"/>
              </a:rPr>
              <a:t>опасност</a:t>
            </a:r>
            <a:r>
              <a:rPr lang="ru-RU" sz="2400" dirty="0">
                <a:latin typeface="+mn-lt"/>
              </a:rPr>
              <a:t> на </a:t>
            </a:r>
            <a:r>
              <a:rPr lang="ru-RU" sz="2400" dirty="0" err="1">
                <a:latin typeface="+mn-lt"/>
              </a:rPr>
              <a:t>пътя</a:t>
            </a:r>
            <a:r>
              <a:rPr lang="ru-RU" sz="2400" dirty="0">
                <a:latin typeface="+mn-lt"/>
              </a:rPr>
              <a:t>.</a:t>
            </a:r>
            <a:br>
              <a:rPr lang="ru-RU" sz="2400" dirty="0"/>
            </a:br>
            <a:endParaRPr lang="bg-BG" sz="2400" dirty="0">
              <a:latin typeface="Georgia" panose="02040502050405020303" pitchFamily="18" charset="0"/>
            </a:endParaRPr>
          </a:p>
        </p:txBody>
      </p:sp>
      <p:sp>
        <p:nvSpPr>
          <p:cNvPr id="8" name="TextBox 7">
            <a:extLst>
              <a:ext uri="{FF2B5EF4-FFF2-40B4-BE49-F238E27FC236}">
                <a16:creationId xmlns:a16="http://schemas.microsoft.com/office/drawing/2014/main" id="{C1125CB7-E0B9-4D9A-8440-DD72C6394C83}"/>
              </a:ext>
            </a:extLst>
          </p:cNvPr>
          <p:cNvSpPr txBox="1"/>
          <p:nvPr/>
        </p:nvSpPr>
        <p:spPr>
          <a:xfrm>
            <a:off x="6096000" y="1082752"/>
            <a:ext cx="5925310" cy="1200329"/>
          </a:xfrm>
          <a:prstGeom prst="rect">
            <a:avLst/>
          </a:prstGeom>
          <a:noFill/>
        </p:spPr>
        <p:txBody>
          <a:bodyPr wrap="square" rtlCol="0">
            <a:spAutoFit/>
          </a:bodyPr>
          <a:lstStyle/>
          <a:p>
            <a:pPr algn="ctr"/>
            <a:r>
              <a:rPr lang="ru-RU" sz="3600" dirty="0">
                <a:latin typeface="+mj-lt"/>
              </a:rPr>
              <a:t>Влияние на </a:t>
            </a:r>
            <a:r>
              <a:rPr lang="ru-RU" sz="3600" dirty="0" err="1">
                <a:latin typeface="+mj-lt"/>
              </a:rPr>
              <a:t>алкохола</a:t>
            </a:r>
            <a:r>
              <a:rPr lang="ru-RU" sz="3600" dirty="0">
                <a:latin typeface="+mj-lt"/>
              </a:rPr>
              <a:t> </a:t>
            </a:r>
            <a:r>
              <a:rPr lang="ru-RU" sz="3600" dirty="0" err="1">
                <a:latin typeface="+mj-lt"/>
              </a:rPr>
              <a:t>върху</a:t>
            </a:r>
            <a:r>
              <a:rPr lang="ru-RU" sz="3600" dirty="0">
                <a:latin typeface="+mj-lt"/>
              </a:rPr>
              <a:t> </a:t>
            </a:r>
            <a:r>
              <a:rPr lang="ru-RU" sz="3600" dirty="0" err="1">
                <a:latin typeface="+mj-lt"/>
              </a:rPr>
              <a:t>водача</a:t>
            </a:r>
            <a:endParaRPr lang="en-US" sz="3600" dirty="0">
              <a:latin typeface="+mj-lt"/>
            </a:endParaRPr>
          </a:p>
        </p:txBody>
      </p:sp>
      <p:pic>
        <p:nvPicPr>
          <p:cNvPr id="5126" name="Picture 6" descr="Drunk vision driving car inside tunnel. Defocused driver personal perspective point of view POV at the front commuting cars and light trails inside long tunnel safety security concept">
            <a:extLst>
              <a:ext uri="{FF2B5EF4-FFF2-40B4-BE49-F238E27FC236}">
                <a16:creationId xmlns:a16="http://schemas.microsoft.com/office/drawing/2014/main" id="{51DA19D5-4D24-D55B-ED3C-8BCDE37A3E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5536" y="1682917"/>
            <a:ext cx="4656221" cy="349216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2986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44893991-A557-73CB-2BBD-6DEB7F8A40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3D247E-4C16-391A-DC2E-E003E9394EF9}"/>
              </a:ext>
            </a:extLst>
          </p:cNvPr>
          <p:cNvSpPr>
            <a:spLocks noGrp="1"/>
          </p:cNvSpPr>
          <p:nvPr>
            <p:ph idx="1"/>
          </p:nvPr>
        </p:nvSpPr>
        <p:spPr>
          <a:xfrm>
            <a:off x="763270" y="1216536"/>
            <a:ext cx="10991850" cy="5410323"/>
          </a:xfrm>
        </p:spPr>
        <p:txBody>
          <a:bodyPr>
            <a:noAutofit/>
          </a:bodyPr>
          <a:lstStyle/>
          <a:p>
            <a:r>
              <a:rPr lang="ru-RU" sz="1800" b="1" dirty="0"/>
              <a:t>1. Леко </a:t>
            </a:r>
            <a:r>
              <a:rPr lang="ru-RU" sz="1800" b="1" dirty="0" err="1"/>
              <a:t>опиване</a:t>
            </a:r>
            <a:endParaRPr lang="ru-RU" sz="1800" b="1" dirty="0"/>
          </a:p>
          <a:p>
            <a:pPr marL="0" indent="0">
              <a:buNone/>
            </a:pPr>
            <a:r>
              <a:rPr lang="ru-RU" sz="1800" b="1" dirty="0"/>
              <a:t>Влияние </a:t>
            </a:r>
            <a:r>
              <a:rPr lang="ru-RU" sz="1800" b="1" dirty="0" err="1"/>
              <a:t>върху</a:t>
            </a:r>
            <a:r>
              <a:rPr lang="ru-RU" sz="1800" b="1" dirty="0"/>
              <a:t> </a:t>
            </a:r>
            <a:r>
              <a:rPr lang="ru-RU" sz="1800" b="1" dirty="0" err="1"/>
              <a:t>водача</a:t>
            </a:r>
            <a:r>
              <a:rPr lang="ru-RU" sz="1800" b="1" dirty="0"/>
              <a:t>:</a:t>
            </a:r>
            <a:br>
              <a:rPr lang="ru-RU" sz="1800" dirty="0"/>
            </a:br>
            <a:r>
              <a:rPr lang="ru-RU" sz="1800" dirty="0" err="1"/>
              <a:t>Намалява</a:t>
            </a:r>
            <a:r>
              <a:rPr lang="ru-RU" sz="1800" dirty="0"/>
              <a:t> </a:t>
            </a:r>
            <a:r>
              <a:rPr lang="ru-RU" sz="1800" dirty="0" err="1"/>
              <a:t>вниманието</a:t>
            </a:r>
            <a:r>
              <a:rPr lang="ru-RU" sz="1800" dirty="0"/>
              <a:t> и забавя </a:t>
            </a:r>
            <a:r>
              <a:rPr lang="ru-RU" sz="1800" dirty="0" err="1"/>
              <a:t>реакциите</a:t>
            </a:r>
            <a:r>
              <a:rPr lang="ru-RU" sz="1800" dirty="0"/>
              <a:t>. </a:t>
            </a:r>
            <a:r>
              <a:rPr lang="ru-RU" sz="1800" dirty="0" err="1"/>
              <a:t>Водачът</a:t>
            </a:r>
            <a:r>
              <a:rPr lang="ru-RU" sz="1800" dirty="0"/>
              <a:t> </a:t>
            </a:r>
            <a:r>
              <a:rPr lang="ru-RU" sz="1800" dirty="0" err="1"/>
              <a:t>започва</a:t>
            </a:r>
            <a:r>
              <a:rPr lang="ru-RU" sz="1800" dirty="0"/>
              <a:t> да </a:t>
            </a:r>
            <a:r>
              <a:rPr lang="ru-RU" sz="1800" dirty="0" err="1"/>
              <a:t>преценява</a:t>
            </a:r>
            <a:r>
              <a:rPr lang="ru-RU" sz="1800" dirty="0"/>
              <a:t> </a:t>
            </a:r>
            <a:r>
              <a:rPr lang="ru-RU" sz="1800" dirty="0" err="1"/>
              <a:t>по-рисково</a:t>
            </a:r>
            <a:r>
              <a:rPr lang="ru-RU" sz="1800" dirty="0"/>
              <a:t> и губи </a:t>
            </a:r>
            <a:r>
              <a:rPr lang="ru-RU" sz="1800" dirty="0" err="1"/>
              <a:t>точност</a:t>
            </a:r>
            <a:r>
              <a:rPr lang="ru-RU" sz="1800" dirty="0"/>
              <a:t> при управление.</a:t>
            </a:r>
          </a:p>
          <a:p>
            <a:r>
              <a:rPr lang="ru-RU" sz="1800" b="1" dirty="0"/>
              <a:t>2. </a:t>
            </a:r>
            <a:r>
              <a:rPr lang="ru-RU" sz="1800" b="1" dirty="0" err="1"/>
              <a:t>Средно</a:t>
            </a:r>
            <a:r>
              <a:rPr lang="ru-RU" sz="1800" b="1" dirty="0"/>
              <a:t> </a:t>
            </a:r>
            <a:r>
              <a:rPr lang="ru-RU" sz="1800" b="1" dirty="0" err="1"/>
              <a:t>опиване</a:t>
            </a:r>
            <a:endParaRPr lang="ru-RU" sz="1800" b="1" dirty="0"/>
          </a:p>
          <a:p>
            <a:pPr marL="0" indent="0">
              <a:buNone/>
            </a:pPr>
            <a:r>
              <a:rPr lang="ru-RU" sz="1800" b="1" dirty="0"/>
              <a:t>Влияние </a:t>
            </a:r>
            <a:r>
              <a:rPr lang="ru-RU" sz="1800" b="1" dirty="0" err="1"/>
              <a:t>върху</a:t>
            </a:r>
            <a:r>
              <a:rPr lang="ru-RU" sz="1800" b="1" dirty="0"/>
              <a:t> </a:t>
            </a:r>
            <a:r>
              <a:rPr lang="ru-RU" sz="1800" b="1" dirty="0" err="1"/>
              <a:t>водача</a:t>
            </a:r>
            <a:r>
              <a:rPr lang="ru-RU" sz="1800" b="1" dirty="0"/>
              <a:t>:</a:t>
            </a:r>
            <a:br>
              <a:rPr lang="ru-RU" sz="1800" dirty="0"/>
            </a:br>
            <a:r>
              <a:rPr lang="ru-RU" sz="1800" dirty="0" err="1"/>
              <a:t>Сериозно</a:t>
            </a:r>
            <a:r>
              <a:rPr lang="ru-RU" sz="1800" dirty="0"/>
              <a:t> се </a:t>
            </a:r>
            <a:r>
              <a:rPr lang="ru-RU" sz="1800" dirty="0" err="1"/>
              <a:t>влошава</a:t>
            </a:r>
            <a:r>
              <a:rPr lang="ru-RU" sz="1800" dirty="0"/>
              <a:t> </a:t>
            </a:r>
            <a:r>
              <a:rPr lang="ru-RU" sz="1800" dirty="0" err="1"/>
              <a:t>координацията</a:t>
            </a:r>
            <a:r>
              <a:rPr lang="ru-RU" sz="1800" dirty="0"/>
              <a:t> и </a:t>
            </a:r>
            <a:r>
              <a:rPr lang="ru-RU" sz="1800" dirty="0" err="1"/>
              <a:t>преценката</a:t>
            </a:r>
            <a:r>
              <a:rPr lang="ru-RU" sz="1800" dirty="0"/>
              <a:t> на </a:t>
            </a:r>
            <a:r>
              <a:rPr lang="ru-RU" sz="1800" dirty="0" err="1"/>
              <a:t>разстояния</a:t>
            </a:r>
            <a:r>
              <a:rPr lang="ru-RU" sz="1800" dirty="0"/>
              <a:t> и </a:t>
            </a:r>
            <a:r>
              <a:rPr lang="ru-RU" sz="1800" dirty="0" err="1"/>
              <a:t>скорост</a:t>
            </a:r>
            <a:r>
              <a:rPr lang="ru-RU" sz="1800" dirty="0"/>
              <a:t>. </a:t>
            </a:r>
            <a:r>
              <a:rPr lang="ru-RU" sz="1800" dirty="0" err="1"/>
              <a:t>Управлението</a:t>
            </a:r>
            <a:r>
              <a:rPr lang="ru-RU" sz="1800" dirty="0"/>
              <a:t> на </a:t>
            </a:r>
            <a:r>
              <a:rPr lang="ru-RU" sz="1800" dirty="0" err="1"/>
              <a:t>автомобила</a:t>
            </a:r>
            <a:r>
              <a:rPr lang="ru-RU" sz="1800" dirty="0"/>
              <a:t> става </a:t>
            </a:r>
            <a:r>
              <a:rPr lang="ru-RU" sz="1800" dirty="0" err="1"/>
              <a:t>несигурно</a:t>
            </a:r>
            <a:r>
              <a:rPr lang="ru-RU" sz="1800" dirty="0"/>
              <a:t> и опасно.</a:t>
            </a:r>
          </a:p>
          <a:p>
            <a:r>
              <a:rPr lang="ru-RU" sz="1800" b="1" dirty="0"/>
              <a:t>3. </a:t>
            </a:r>
            <a:r>
              <a:rPr lang="ru-RU" sz="1800" b="1" dirty="0" err="1"/>
              <a:t>Тежко</a:t>
            </a:r>
            <a:r>
              <a:rPr lang="ru-RU" sz="1800" b="1" dirty="0"/>
              <a:t> </a:t>
            </a:r>
            <a:r>
              <a:rPr lang="ru-RU" sz="1800" b="1" dirty="0" err="1"/>
              <a:t>опиване</a:t>
            </a:r>
            <a:endParaRPr lang="ru-RU" sz="1800" b="1" dirty="0"/>
          </a:p>
          <a:p>
            <a:pPr marL="0" indent="0">
              <a:buNone/>
            </a:pPr>
            <a:r>
              <a:rPr lang="ru-RU" sz="1800" b="1" dirty="0"/>
              <a:t>Влияние </a:t>
            </a:r>
            <a:r>
              <a:rPr lang="ru-RU" sz="1800" b="1" dirty="0" err="1"/>
              <a:t>върху</a:t>
            </a:r>
            <a:r>
              <a:rPr lang="ru-RU" sz="1800" b="1" dirty="0"/>
              <a:t> </a:t>
            </a:r>
            <a:r>
              <a:rPr lang="ru-RU" sz="1800" b="1" dirty="0" err="1"/>
              <a:t>водача</a:t>
            </a:r>
            <a:r>
              <a:rPr lang="ru-RU" sz="1800" b="1" dirty="0"/>
              <a:t>:</a:t>
            </a:r>
            <a:br>
              <a:rPr lang="ru-RU" sz="1800" dirty="0"/>
            </a:br>
            <a:r>
              <a:rPr lang="ru-RU" sz="1800" dirty="0" err="1"/>
              <a:t>Водачът</a:t>
            </a:r>
            <a:r>
              <a:rPr lang="ru-RU" sz="1800" dirty="0"/>
              <a:t> губи контрол </a:t>
            </a:r>
            <a:r>
              <a:rPr lang="ru-RU" sz="1800" dirty="0" err="1"/>
              <a:t>върху</a:t>
            </a:r>
            <a:r>
              <a:rPr lang="ru-RU" sz="1800" dirty="0"/>
              <a:t> </a:t>
            </a:r>
            <a:r>
              <a:rPr lang="ru-RU" sz="1800" dirty="0" err="1"/>
              <a:t>поведението</a:t>
            </a:r>
            <a:r>
              <a:rPr lang="ru-RU" sz="1800" dirty="0"/>
              <a:t> си, </a:t>
            </a:r>
            <a:r>
              <a:rPr lang="ru-RU" sz="1800" dirty="0" err="1"/>
              <a:t>ориентацията</a:t>
            </a:r>
            <a:r>
              <a:rPr lang="ru-RU" sz="1800" dirty="0"/>
              <a:t> и </a:t>
            </a:r>
            <a:r>
              <a:rPr lang="ru-RU" sz="1800" dirty="0" err="1"/>
              <a:t>реакциите</a:t>
            </a:r>
            <a:r>
              <a:rPr lang="ru-RU" sz="1800" dirty="0"/>
              <a:t>. </a:t>
            </a:r>
            <a:r>
              <a:rPr lang="ru-RU" sz="1800" dirty="0" err="1"/>
              <a:t>Шофирането</a:t>
            </a:r>
            <a:r>
              <a:rPr lang="ru-RU" sz="1800" dirty="0"/>
              <a:t> става </a:t>
            </a:r>
            <a:r>
              <a:rPr lang="ru-RU" sz="1800" dirty="0" err="1"/>
              <a:t>изключително</a:t>
            </a:r>
            <a:r>
              <a:rPr lang="ru-RU" sz="1800" dirty="0"/>
              <a:t> опасно и непредсказуемо.</a:t>
            </a:r>
          </a:p>
          <a:p>
            <a:r>
              <a:rPr lang="ru-RU" sz="1800" b="1" dirty="0"/>
              <a:t>4. Много </a:t>
            </a:r>
            <a:r>
              <a:rPr lang="ru-RU" sz="1800" b="1" dirty="0" err="1"/>
              <a:t>тежко</a:t>
            </a:r>
            <a:r>
              <a:rPr lang="ru-RU" sz="1800" b="1" dirty="0"/>
              <a:t> </a:t>
            </a:r>
            <a:r>
              <a:rPr lang="ru-RU" sz="1800" b="1" dirty="0" err="1"/>
              <a:t>опиване</a:t>
            </a:r>
            <a:r>
              <a:rPr lang="ru-RU" sz="1800" b="1" dirty="0"/>
              <a:t> (</a:t>
            </a:r>
            <a:r>
              <a:rPr lang="ru-RU" sz="1800" b="1" dirty="0" err="1"/>
              <a:t>алкохолно</a:t>
            </a:r>
            <a:r>
              <a:rPr lang="ru-RU" sz="1800" b="1" dirty="0"/>
              <a:t> </a:t>
            </a:r>
            <a:r>
              <a:rPr lang="ru-RU" sz="1800" b="1" dirty="0" err="1"/>
              <a:t>отравяне</a:t>
            </a:r>
            <a:r>
              <a:rPr lang="ru-RU" sz="1800" b="1" dirty="0"/>
              <a:t>)</a:t>
            </a:r>
          </a:p>
          <a:p>
            <a:pPr marL="0" indent="0">
              <a:buNone/>
            </a:pPr>
            <a:r>
              <a:rPr lang="ru-RU" sz="1800" b="1" dirty="0"/>
              <a:t>Влияние </a:t>
            </a:r>
            <a:r>
              <a:rPr lang="ru-RU" sz="1800" b="1" dirty="0" err="1"/>
              <a:t>върху</a:t>
            </a:r>
            <a:r>
              <a:rPr lang="ru-RU" sz="1800" b="1" dirty="0"/>
              <a:t> </a:t>
            </a:r>
            <a:r>
              <a:rPr lang="ru-RU" sz="1800" b="1" dirty="0" err="1"/>
              <a:t>водача</a:t>
            </a:r>
            <a:r>
              <a:rPr lang="ru-RU" sz="1800" b="1" dirty="0"/>
              <a:t>:</a:t>
            </a:r>
            <a:br>
              <a:rPr lang="ru-RU" sz="1800" dirty="0"/>
            </a:br>
            <a:r>
              <a:rPr lang="ru-RU" sz="1800" dirty="0" err="1"/>
              <a:t>Възможна</a:t>
            </a:r>
            <a:r>
              <a:rPr lang="ru-RU" sz="1800" dirty="0"/>
              <a:t> е </a:t>
            </a:r>
            <a:r>
              <a:rPr lang="ru-RU" sz="1800" dirty="0" err="1"/>
              <a:t>загуба</a:t>
            </a:r>
            <a:r>
              <a:rPr lang="ru-RU" sz="1800" dirty="0"/>
              <a:t> на </a:t>
            </a:r>
            <a:r>
              <a:rPr lang="ru-RU" sz="1800" dirty="0" err="1"/>
              <a:t>съзнание</a:t>
            </a:r>
            <a:r>
              <a:rPr lang="ru-RU" sz="1800" dirty="0"/>
              <a:t> и </a:t>
            </a:r>
            <a:r>
              <a:rPr lang="ru-RU" sz="1800" dirty="0" err="1"/>
              <a:t>пълна</a:t>
            </a:r>
            <a:r>
              <a:rPr lang="ru-RU" sz="1800" dirty="0"/>
              <a:t> </a:t>
            </a:r>
            <a:r>
              <a:rPr lang="ru-RU" sz="1800" dirty="0" err="1"/>
              <a:t>неспособност</a:t>
            </a:r>
            <a:r>
              <a:rPr lang="ru-RU" sz="1800" dirty="0"/>
              <a:t> за управление. </a:t>
            </a:r>
            <a:r>
              <a:rPr lang="ru-RU" sz="1800" dirty="0" err="1"/>
              <a:t>Състоянието</a:t>
            </a:r>
            <a:r>
              <a:rPr lang="ru-RU" sz="1800" dirty="0"/>
              <a:t> </a:t>
            </a:r>
            <a:r>
              <a:rPr lang="ru-RU" sz="1800" dirty="0" err="1"/>
              <a:t>застрашава</a:t>
            </a:r>
            <a:r>
              <a:rPr lang="ru-RU" sz="1800" dirty="0"/>
              <a:t> живота на </a:t>
            </a:r>
            <a:r>
              <a:rPr lang="ru-RU" sz="1800" dirty="0" err="1"/>
              <a:t>водача</a:t>
            </a:r>
            <a:r>
              <a:rPr lang="ru-RU" sz="1800" dirty="0"/>
              <a:t> и </a:t>
            </a:r>
            <a:r>
              <a:rPr lang="ru-RU" sz="1800" dirty="0" err="1"/>
              <a:t>околните</a:t>
            </a:r>
            <a:r>
              <a:rPr lang="ru-RU" sz="1800" dirty="0"/>
              <a:t>.</a:t>
            </a:r>
          </a:p>
          <a:p>
            <a:pPr marL="0" indent="0">
              <a:buNone/>
            </a:pPr>
            <a:endParaRPr lang="ru-RU" sz="1800" dirty="0"/>
          </a:p>
          <a:p>
            <a:pPr marL="0" indent="0" algn="just">
              <a:buNone/>
            </a:pPr>
            <a:endParaRPr lang="bg-BG" sz="2400" dirty="0">
              <a:latin typeface="Georgia" panose="02040502050405020303" pitchFamily="18" charset="0"/>
            </a:endParaRPr>
          </a:p>
        </p:txBody>
      </p:sp>
      <p:sp>
        <p:nvSpPr>
          <p:cNvPr id="8" name="TextBox 7">
            <a:extLst>
              <a:ext uri="{FF2B5EF4-FFF2-40B4-BE49-F238E27FC236}">
                <a16:creationId xmlns:a16="http://schemas.microsoft.com/office/drawing/2014/main" id="{C1125CB7-E0B9-4D9A-8440-DD72C6394C83}"/>
              </a:ext>
            </a:extLst>
          </p:cNvPr>
          <p:cNvSpPr txBox="1"/>
          <p:nvPr/>
        </p:nvSpPr>
        <p:spPr>
          <a:xfrm>
            <a:off x="1524634" y="331547"/>
            <a:ext cx="8258175" cy="646331"/>
          </a:xfrm>
          <a:prstGeom prst="rect">
            <a:avLst/>
          </a:prstGeom>
          <a:noFill/>
        </p:spPr>
        <p:txBody>
          <a:bodyPr wrap="square" rtlCol="0">
            <a:spAutoFit/>
          </a:bodyPr>
          <a:lstStyle/>
          <a:p>
            <a:pPr algn="ctr"/>
            <a:r>
              <a:rPr lang="ru-RU" sz="3600" dirty="0">
                <a:latin typeface="+mj-lt"/>
              </a:rPr>
              <a:t>Влияние на </a:t>
            </a:r>
            <a:r>
              <a:rPr lang="ru-RU" sz="3600" dirty="0" err="1">
                <a:latin typeface="+mj-lt"/>
              </a:rPr>
              <a:t>алкохола</a:t>
            </a:r>
            <a:r>
              <a:rPr lang="ru-RU" sz="3600" dirty="0">
                <a:latin typeface="+mj-lt"/>
              </a:rPr>
              <a:t> </a:t>
            </a:r>
            <a:r>
              <a:rPr lang="ru-RU" sz="3600" dirty="0" err="1">
                <a:latin typeface="+mj-lt"/>
              </a:rPr>
              <a:t>върху</a:t>
            </a:r>
            <a:r>
              <a:rPr lang="ru-RU" sz="3600" dirty="0">
                <a:latin typeface="+mj-lt"/>
              </a:rPr>
              <a:t> </a:t>
            </a:r>
            <a:r>
              <a:rPr lang="ru-RU" sz="3600" dirty="0" err="1">
                <a:latin typeface="+mj-lt"/>
              </a:rPr>
              <a:t>водача</a:t>
            </a:r>
            <a:endParaRPr lang="en-US" sz="3600" dirty="0">
              <a:latin typeface="+mj-lt"/>
            </a:endParaRPr>
          </a:p>
        </p:txBody>
      </p:sp>
    </p:spTree>
    <p:extLst>
      <p:ext uri="{BB962C8B-B14F-4D97-AF65-F5344CB8AC3E}">
        <p14:creationId xmlns:p14="http://schemas.microsoft.com/office/powerpoint/2010/main" val="236704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DFF84AA6-8D5E-D210-20F9-819354E4C4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61D48A-AF87-559E-6B69-94F2A30A321D}"/>
              </a:ext>
            </a:extLst>
          </p:cNvPr>
          <p:cNvSpPr>
            <a:spLocks noGrp="1"/>
          </p:cNvSpPr>
          <p:nvPr>
            <p:ph idx="1"/>
          </p:nvPr>
        </p:nvSpPr>
        <p:spPr>
          <a:xfrm>
            <a:off x="465330" y="2406378"/>
            <a:ext cx="5925310" cy="2951685"/>
          </a:xfrm>
        </p:spPr>
        <p:txBody>
          <a:bodyPr>
            <a:noAutofit/>
          </a:bodyPr>
          <a:lstStyle/>
          <a:p>
            <a:pPr marL="0" indent="0" algn="ctr">
              <a:buNone/>
            </a:pPr>
            <a:r>
              <a:rPr lang="ru-RU" sz="2400" dirty="0" err="1">
                <a:latin typeface="+mn-lt"/>
              </a:rPr>
              <a:t>Зрението</a:t>
            </a:r>
            <a:r>
              <a:rPr lang="ru-RU" sz="2400" dirty="0">
                <a:latin typeface="+mn-lt"/>
              </a:rPr>
              <a:t> ни </a:t>
            </a:r>
            <a:r>
              <a:rPr lang="ru-RU" sz="2400" dirty="0" err="1">
                <a:latin typeface="+mn-lt"/>
              </a:rPr>
              <a:t>позволява</a:t>
            </a:r>
            <a:r>
              <a:rPr lang="ru-RU" sz="2400" dirty="0">
                <a:latin typeface="+mn-lt"/>
              </a:rPr>
              <a:t> да </a:t>
            </a:r>
            <a:r>
              <a:rPr lang="ru-RU" sz="2400" dirty="0" err="1">
                <a:latin typeface="+mn-lt"/>
              </a:rPr>
              <a:t>виждаме</a:t>
            </a:r>
            <a:r>
              <a:rPr lang="ru-RU" sz="2400" dirty="0">
                <a:latin typeface="+mn-lt"/>
              </a:rPr>
              <a:t> ясно </a:t>
            </a:r>
            <a:r>
              <a:rPr lang="ru-RU" sz="2400" dirty="0" err="1">
                <a:latin typeface="+mn-lt"/>
              </a:rPr>
              <a:t>детайлите</a:t>
            </a:r>
            <a:r>
              <a:rPr lang="ru-RU" sz="2400" dirty="0">
                <a:latin typeface="+mn-lt"/>
              </a:rPr>
              <a:t> на </a:t>
            </a:r>
            <a:r>
              <a:rPr lang="ru-RU" sz="2400" dirty="0" err="1">
                <a:latin typeface="+mn-lt"/>
              </a:rPr>
              <a:t>пътя</a:t>
            </a:r>
            <a:r>
              <a:rPr lang="ru-RU" sz="2400" dirty="0">
                <a:latin typeface="+mn-lt"/>
              </a:rPr>
              <a:t> и да </a:t>
            </a:r>
            <a:r>
              <a:rPr lang="ru-RU" sz="2400" dirty="0" err="1">
                <a:latin typeface="+mn-lt"/>
              </a:rPr>
              <a:t>забелязваме</a:t>
            </a:r>
            <a:r>
              <a:rPr lang="ru-RU" sz="2400" dirty="0">
                <a:latin typeface="+mn-lt"/>
              </a:rPr>
              <a:t> опасности </a:t>
            </a:r>
            <a:r>
              <a:rPr lang="ru-RU" sz="2400" dirty="0" err="1">
                <a:latin typeface="+mn-lt"/>
              </a:rPr>
              <a:t>встрани</a:t>
            </a:r>
            <a:r>
              <a:rPr lang="ru-RU" sz="2400" dirty="0">
                <a:latin typeface="+mn-lt"/>
              </a:rPr>
              <a:t> чрез </a:t>
            </a:r>
            <a:r>
              <a:rPr lang="ru-RU" sz="2400" dirty="0" err="1">
                <a:latin typeface="+mn-lt"/>
              </a:rPr>
              <a:t>периферното</a:t>
            </a:r>
            <a:r>
              <a:rPr lang="ru-RU" sz="2400" dirty="0">
                <a:latin typeface="+mn-lt"/>
              </a:rPr>
              <a:t> си зрение. Важно е </a:t>
            </a:r>
            <a:r>
              <a:rPr lang="ru-RU" sz="2400" dirty="0" err="1">
                <a:latin typeface="+mn-lt"/>
              </a:rPr>
              <a:t>очите</a:t>
            </a:r>
            <a:r>
              <a:rPr lang="ru-RU" sz="2400" dirty="0">
                <a:latin typeface="+mn-lt"/>
              </a:rPr>
              <a:t> ни </a:t>
            </a:r>
            <a:r>
              <a:rPr lang="ru-RU" sz="2400" dirty="0" err="1">
                <a:latin typeface="+mn-lt"/>
              </a:rPr>
              <a:t>бързо</a:t>
            </a:r>
            <a:r>
              <a:rPr lang="ru-RU" sz="2400" dirty="0">
                <a:latin typeface="+mn-lt"/>
              </a:rPr>
              <a:t> да </a:t>
            </a:r>
            <a:r>
              <a:rPr lang="ru-RU" sz="2400" dirty="0" err="1">
                <a:latin typeface="+mn-lt"/>
              </a:rPr>
              <a:t>фокусират</a:t>
            </a:r>
            <a:r>
              <a:rPr lang="ru-RU" sz="2400" dirty="0">
                <a:latin typeface="+mn-lt"/>
              </a:rPr>
              <a:t> </a:t>
            </a:r>
            <a:r>
              <a:rPr lang="ru-RU" sz="2400" dirty="0" err="1">
                <a:latin typeface="+mn-lt"/>
              </a:rPr>
              <a:t>отблизо</a:t>
            </a:r>
            <a:r>
              <a:rPr lang="ru-RU" sz="2400" dirty="0">
                <a:latin typeface="+mn-lt"/>
              </a:rPr>
              <a:t> и </a:t>
            </a:r>
            <a:r>
              <a:rPr lang="ru-RU" sz="2400" dirty="0" err="1">
                <a:latin typeface="+mn-lt"/>
              </a:rPr>
              <a:t>отдалеч</a:t>
            </a:r>
            <a:r>
              <a:rPr lang="ru-RU" sz="2400" dirty="0">
                <a:latin typeface="+mn-lt"/>
              </a:rPr>
              <a:t>, за да предвидим всяка ситуация и да </a:t>
            </a:r>
            <a:r>
              <a:rPr lang="ru-RU" sz="2400" dirty="0" err="1">
                <a:latin typeface="+mn-lt"/>
              </a:rPr>
              <a:t>реагираме</a:t>
            </a:r>
            <a:r>
              <a:rPr lang="ru-RU" sz="2400" dirty="0">
                <a:latin typeface="+mn-lt"/>
              </a:rPr>
              <a:t> </a:t>
            </a:r>
            <a:r>
              <a:rPr lang="ru-RU" sz="2400" dirty="0" err="1">
                <a:latin typeface="+mn-lt"/>
              </a:rPr>
              <a:t>навреме</a:t>
            </a:r>
            <a:r>
              <a:rPr lang="ru-RU" sz="2400" dirty="0">
                <a:latin typeface="+mn-lt"/>
              </a:rPr>
              <a:t>.</a:t>
            </a:r>
            <a:endParaRPr lang="bg-BG" sz="2400" dirty="0">
              <a:latin typeface="+mn-lt"/>
            </a:endParaRPr>
          </a:p>
        </p:txBody>
      </p:sp>
      <p:sp>
        <p:nvSpPr>
          <p:cNvPr id="8" name="TextBox 7">
            <a:extLst>
              <a:ext uri="{FF2B5EF4-FFF2-40B4-BE49-F238E27FC236}">
                <a16:creationId xmlns:a16="http://schemas.microsoft.com/office/drawing/2014/main" id="{B1F3E08A-86D6-ACBA-54A6-AD5914D78940}"/>
              </a:ext>
            </a:extLst>
          </p:cNvPr>
          <p:cNvSpPr txBox="1"/>
          <p:nvPr/>
        </p:nvSpPr>
        <p:spPr>
          <a:xfrm>
            <a:off x="338330" y="574652"/>
            <a:ext cx="6606030" cy="1200329"/>
          </a:xfrm>
          <a:prstGeom prst="rect">
            <a:avLst/>
          </a:prstGeom>
          <a:noFill/>
        </p:spPr>
        <p:txBody>
          <a:bodyPr wrap="square" rtlCol="0">
            <a:spAutoFit/>
          </a:bodyPr>
          <a:lstStyle/>
          <a:p>
            <a:pPr algn="ctr"/>
            <a:r>
              <a:rPr lang="bg-BG" sz="3600" dirty="0">
                <a:latin typeface="+mj-lt"/>
              </a:rPr>
              <a:t>Сензорни характеристики на зрението</a:t>
            </a:r>
            <a:endParaRPr lang="en-US" sz="3600" dirty="0">
              <a:latin typeface="+mj-lt"/>
            </a:endParaRPr>
          </a:p>
        </p:txBody>
      </p:sp>
      <p:pic>
        <p:nvPicPr>
          <p:cNvPr id="1030" name="Picture 6" descr="hands of car driver on steering wheel, road trip, driving on highway road hands of car driver on steering wheel, road trip, driving on highway road driving personal perspective stock pictures, royalty-free photos &amp; images">
            <a:extLst>
              <a:ext uri="{FF2B5EF4-FFF2-40B4-BE49-F238E27FC236}">
                <a16:creationId xmlns:a16="http://schemas.microsoft.com/office/drawing/2014/main" id="{237EC8F5-9B2A-0800-0E4C-66A4062E8F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85280" y="2411458"/>
            <a:ext cx="5214110" cy="315628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446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DFF84AA6-8D5E-D210-20F9-819354E4C4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61D48A-AF87-559E-6B69-94F2A30A321D}"/>
              </a:ext>
            </a:extLst>
          </p:cNvPr>
          <p:cNvSpPr>
            <a:spLocks noGrp="1"/>
          </p:cNvSpPr>
          <p:nvPr>
            <p:ph idx="1"/>
          </p:nvPr>
        </p:nvSpPr>
        <p:spPr>
          <a:xfrm>
            <a:off x="559117" y="871924"/>
            <a:ext cx="11073765" cy="5864156"/>
          </a:xfrm>
        </p:spPr>
        <p:txBody>
          <a:bodyPr>
            <a:noAutofit/>
          </a:bodyPr>
          <a:lstStyle/>
          <a:p>
            <a:r>
              <a:rPr lang="ru-RU" sz="2000" b="1" dirty="0"/>
              <a:t>1. Острота на </a:t>
            </a:r>
            <a:r>
              <a:rPr lang="ru-RU" sz="2000" b="1" dirty="0" err="1"/>
              <a:t>зрението</a:t>
            </a:r>
            <a:endParaRPr lang="ru-RU" sz="2000" b="1" dirty="0"/>
          </a:p>
          <a:p>
            <a:pPr marL="0" indent="0">
              <a:buNone/>
            </a:pPr>
            <a:r>
              <a:rPr lang="ru-RU" sz="2000" dirty="0" err="1"/>
              <a:t>Това</a:t>
            </a:r>
            <a:r>
              <a:rPr lang="ru-RU" sz="2000" dirty="0"/>
              <a:t> е </a:t>
            </a:r>
            <a:r>
              <a:rPr lang="ru-RU" sz="2000" dirty="0" err="1"/>
              <a:t>способността</a:t>
            </a:r>
            <a:r>
              <a:rPr lang="ru-RU" sz="2000" dirty="0"/>
              <a:t> да </a:t>
            </a:r>
            <a:r>
              <a:rPr lang="ru-RU" sz="2000" dirty="0" err="1"/>
              <a:t>различаваме</a:t>
            </a:r>
            <a:r>
              <a:rPr lang="ru-RU" sz="2000" dirty="0"/>
              <a:t> малки </a:t>
            </a:r>
            <a:r>
              <a:rPr lang="ru-RU" sz="2000" dirty="0" err="1"/>
              <a:t>детайли</a:t>
            </a:r>
            <a:r>
              <a:rPr lang="ru-RU" sz="2000" dirty="0"/>
              <a:t> и </a:t>
            </a:r>
            <a:r>
              <a:rPr lang="ru-RU" sz="2000" dirty="0" err="1"/>
              <a:t>обекти</a:t>
            </a:r>
            <a:r>
              <a:rPr lang="ru-RU" sz="2000" dirty="0"/>
              <a:t> на </a:t>
            </a:r>
            <a:r>
              <a:rPr lang="ru-RU" sz="2000" dirty="0" err="1"/>
              <a:t>разстояние</a:t>
            </a:r>
            <a:r>
              <a:rPr lang="ru-RU" sz="2000" dirty="0"/>
              <a:t>.</a:t>
            </a:r>
            <a:br>
              <a:rPr lang="ru-RU" sz="2000" dirty="0"/>
            </a:br>
            <a:r>
              <a:rPr lang="ru-RU" sz="2000" b="1" dirty="0"/>
              <a:t>Влияние:</a:t>
            </a:r>
            <a:r>
              <a:rPr lang="ru-RU" sz="2000" dirty="0"/>
              <a:t> </a:t>
            </a:r>
            <a:r>
              <a:rPr lang="ru-RU" sz="2000" dirty="0" err="1"/>
              <a:t>Добрата</a:t>
            </a:r>
            <a:r>
              <a:rPr lang="ru-RU" sz="2000" dirty="0"/>
              <a:t> острота </a:t>
            </a:r>
            <a:r>
              <a:rPr lang="ru-RU" sz="2000" dirty="0" err="1"/>
              <a:t>помага</a:t>
            </a:r>
            <a:r>
              <a:rPr lang="ru-RU" sz="2000" dirty="0"/>
              <a:t> да се </a:t>
            </a:r>
            <a:r>
              <a:rPr lang="ru-RU" sz="2000" dirty="0" err="1"/>
              <a:t>виждат</a:t>
            </a:r>
            <a:r>
              <a:rPr lang="ru-RU" sz="2000" dirty="0"/>
              <a:t> </a:t>
            </a:r>
            <a:r>
              <a:rPr lang="ru-RU" sz="2000" dirty="0" err="1"/>
              <a:t>знаци</a:t>
            </a:r>
            <a:r>
              <a:rPr lang="ru-RU" sz="2000" dirty="0"/>
              <a:t>, </a:t>
            </a:r>
            <a:r>
              <a:rPr lang="ru-RU" sz="2000" dirty="0" err="1"/>
              <a:t>пешеходци</a:t>
            </a:r>
            <a:r>
              <a:rPr lang="ru-RU" sz="2000" dirty="0"/>
              <a:t> и опасности </a:t>
            </a:r>
            <a:r>
              <a:rPr lang="ru-RU" sz="2000" dirty="0" err="1"/>
              <a:t>навреме</a:t>
            </a:r>
            <a:r>
              <a:rPr lang="ru-RU" sz="2000" dirty="0"/>
              <a:t>.</a:t>
            </a:r>
          </a:p>
          <a:p>
            <a:r>
              <a:rPr lang="ru-RU" b="1" dirty="0"/>
              <a:t>2. </a:t>
            </a:r>
            <a:r>
              <a:rPr lang="ru-RU" b="1" dirty="0" err="1"/>
              <a:t>Акомодация</a:t>
            </a:r>
            <a:r>
              <a:rPr lang="ru-RU" b="1" dirty="0"/>
              <a:t> на </a:t>
            </a:r>
            <a:r>
              <a:rPr lang="ru-RU" b="1" dirty="0" err="1"/>
              <a:t>зрението</a:t>
            </a:r>
            <a:endParaRPr lang="ru-RU" b="1" dirty="0"/>
          </a:p>
          <a:p>
            <a:pPr marL="0" indent="0">
              <a:buNone/>
            </a:pPr>
            <a:r>
              <a:rPr lang="ru-RU" dirty="0" err="1"/>
              <a:t>Това</a:t>
            </a:r>
            <a:r>
              <a:rPr lang="ru-RU" dirty="0"/>
              <a:t> е </a:t>
            </a:r>
            <a:r>
              <a:rPr lang="ru-RU" dirty="0" err="1"/>
              <a:t>способността</a:t>
            </a:r>
            <a:r>
              <a:rPr lang="ru-RU" dirty="0"/>
              <a:t> на </a:t>
            </a:r>
            <a:r>
              <a:rPr lang="ru-RU" dirty="0" err="1"/>
              <a:t>окото</a:t>
            </a:r>
            <a:r>
              <a:rPr lang="ru-RU" dirty="0"/>
              <a:t> да се </a:t>
            </a:r>
            <a:r>
              <a:rPr lang="ru-RU" dirty="0" err="1"/>
              <a:t>приспособява</a:t>
            </a:r>
            <a:r>
              <a:rPr lang="ru-RU" dirty="0"/>
              <a:t> </a:t>
            </a:r>
            <a:r>
              <a:rPr lang="ru-RU" dirty="0" err="1"/>
              <a:t>към</a:t>
            </a:r>
            <a:r>
              <a:rPr lang="ru-RU" dirty="0"/>
              <a:t> </a:t>
            </a:r>
            <a:r>
              <a:rPr lang="ru-RU" dirty="0" err="1"/>
              <a:t>различни</a:t>
            </a:r>
            <a:r>
              <a:rPr lang="ru-RU" dirty="0"/>
              <a:t> </a:t>
            </a:r>
            <a:r>
              <a:rPr lang="ru-RU" dirty="0" err="1"/>
              <a:t>разстояния</a:t>
            </a:r>
            <a:r>
              <a:rPr lang="ru-RU" dirty="0"/>
              <a:t> (</a:t>
            </a:r>
            <a:r>
              <a:rPr lang="ru-RU" dirty="0" err="1"/>
              <a:t>близо</a:t>
            </a:r>
            <a:r>
              <a:rPr lang="ru-RU" dirty="0"/>
              <a:t> и </a:t>
            </a:r>
            <a:r>
              <a:rPr lang="ru-RU" dirty="0" err="1"/>
              <a:t>далеч</a:t>
            </a:r>
            <a:r>
              <a:rPr lang="ru-RU" dirty="0"/>
              <a:t>).</a:t>
            </a:r>
            <a:br>
              <a:rPr lang="ru-RU" dirty="0"/>
            </a:br>
            <a:r>
              <a:rPr lang="ru-RU" b="1" dirty="0"/>
              <a:t>Влияние:</a:t>
            </a:r>
            <a:r>
              <a:rPr lang="ru-RU" dirty="0"/>
              <a:t> </a:t>
            </a:r>
            <a:r>
              <a:rPr lang="ru-RU" dirty="0" err="1"/>
              <a:t>Позволява</a:t>
            </a:r>
            <a:r>
              <a:rPr lang="ru-RU" dirty="0"/>
              <a:t> </a:t>
            </a:r>
            <a:r>
              <a:rPr lang="ru-RU" dirty="0" err="1"/>
              <a:t>бързо</a:t>
            </a:r>
            <a:r>
              <a:rPr lang="ru-RU" dirty="0"/>
              <a:t> </a:t>
            </a:r>
            <a:r>
              <a:rPr lang="ru-RU" dirty="0" err="1"/>
              <a:t>фокусиране</a:t>
            </a:r>
            <a:r>
              <a:rPr lang="ru-RU" dirty="0"/>
              <a:t> между </a:t>
            </a:r>
            <a:r>
              <a:rPr lang="ru-RU" dirty="0" err="1"/>
              <a:t>пътя</a:t>
            </a:r>
            <a:r>
              <a:rPr lang="ru-RU" dirty="0"/>
              <a:t>, </a:t>
            </a:r>
            <a:r>
              <a:rPr lang="ru-RU" dirty="0" err="1"/>
              <a:t>таблата</a:t>
            </a:r>
            <a:r>
              <a:rPr lang="ru-RU" dirty="0"/>
              <a:t> и </a:t>
            </a:r>
            <a:r>
              <a:rPr lang="ru-RU" dirty="0" err="1"/>
              <a:t>огледалата</a:t>
            </a:r>
            <a:r>
              <a:rPr lang="ru-RU" dirty="0"/>
              <a:t>.</a:t>
            </a:r>
          </a:p>
          <a:p>
            <a:r>
              <a:rPr lang="ru-RU" b="1" dirty="0"/>
              <a:t>3. </a:t>
            </a:r>
            <a:r>
              <a:rPr lang="ru-RU" b="1" dirty="0" err="1"/>
              <a:t>Периферно</a:t>
            </a:r>
            <a:r>
              <a:rPr lang="ru-RU" b="1" dirty="0"/>
              <a:t> зрение</a:t>
            </a:r>
          </a:p>
          <a:p>
            <a:pPr marL="0" indent="0">
              <a:buNone/>
            </a:pPr>
            <a:r>
              <a:rPr lang="ru-RU" dirty="0" err="1"/>
              <a:t>Това</a:t>
            </a:r>
            <a:r>
              <a:rPr lang="ru-RU" dirty="0"/>
              <a:t> е </a:t>
            </a:r>
            <a:r>
              <a:rPr lang="ru-RU" dirty="0" err="1"/>
              <a:t>виждането</a:t>
            </a:r>
            <a:r>
              <a:rPr lang="ru-RU" dirty="0"/>
              <a:t> на </a:t>
            </a:r>
            <a:r>
              <a:rPr lang="ru-RU" dirty="0" err="1"/>
              <a:t>обекти</a:t>
            </a:r>
            <a:r>
              <a:rPr lang="ru-RU" dirty="0"/>
              <a:t> отстрани, без да се </a:t>
            </a:r>
            <a:r>
              <a:rPr lang="ru-RU" dirty="0" err="1"/>
              <a:t>гледа</a:t>
            </a:r>
            <a:r>
              <a:rPr lang="ru-RU" dirty="0"/>
              <a:t> </a:t>
            </a:r>
            <a:r>
              <a:rPr lang="ru-RU" dirty="0" err="1"/>
              <a:t>директно</a:t>
            </a:r>
            <a:r>
              <a:rPr lang="ru-RU" dirty="0"/>
              <a:t> </a:t>
            </a:r>
            <a:r>
              <a:rPr lang="ru-RU" dirty="0" err="1"/>
              <a:t>към</a:t>
            </a:r>
            <a:r>
              <a:rPr lang="ru-RU" dirty="0"/>
              <a:t> </a:t>
            </a:r>
            <a:r>
              <a:rPr lang="ru-RU" dirty="0" err="1"/>
              <a:t>тях</a:t>
            </a:r>
            <a:r>
              <a:rPr lang="ru-RU" dirty="0"/>
              <a:t>.</a:t>
            </a:r>
            <a:br>
              <a:rPr lang="ru-RU" dirty="0"/>
            </a:br>
            <a:r>
              <a:rPr lang="ru-RU" b="1" dirty="0"/>
              <a:t>Влияние:</a:t>
            </a:r>
            <a:r>
              <a:rPr lang="ru-RU" dirty="0"/>
              <a:t> </a:t>
            </a:r>
            <a:r>
              <a:rPr lang="ru-RU" dirty="0" err="1"/>
              <a:t>Помага</a:t>
            </a:r>
            <a:r>
              <a:rPr lang="ru-RU" dirty="0"/>
              <a:t> да се </a:t>
            </a:r>
            <a:r>
              <a:rPr lang="ru-RU" dirty="0" err="1"/>
              <a:t>забелязват</a:t>
            </a:r>
            <a:r>
              <a:rPr lang="ru-RU" dirty="0"/>
              <a:t> автомобили, </a:t>
            </a:r>
            <a:r>
              <a:rPr lang="ru-RU" dirty="0" err="1"/>
              <a:t>пешеходци</a:t>
            </a:r>
            <a:r>
              <a:rPr lang="ru-RU" dirty="0"/>
              <a:t> и опасности </a:t>
            </a:r>
            <a:r>
              <a:rPr lang="ru-RU" dirty="0" err="1"/>
              <a:t>встрани</a:t>
            </a:r>
            <a:r>
              <a:rPr lang="ru-RU" dirty="0"/>
              <a:t> от </a:t>
            </a:r>
            <a:r>
              <a:rPr lang="ru-RU" dirty="0" err="1"/>
              <a:t>пътя</a:t>
            </a:r>
            <a:r>
              <a:rPr lang="ru-RU" dirty="0"/>
              <a:t>.</a:t>
            </a:r>
          </a:p>
          <a:p>
            <a:r>
              <a:rPr lang="ru-RU" b="1" dirty="0"/>
              <a:t>4. Нощно зрение</a:t>
            </a:r>
          </a:p>
          <a:p>
            <a:pPr marL="0" indent="0">
              <a:buNone/>
            </a:pPr>
            <a:r>
              <a:rPr lang="ru-RU" dirty="0"/>
              <a:t> </a:t>
            </a:r>
            <a:r>
              <a:rPr lang="ru-RU" dirty="0" err="1"/>
              <a:t>Това</a:t>
            </a:r>
            <a:r>
              <a:rPr lang="ru-RU" dirty="0"/>
              <a:t> е </a:t>
            </a:r>
            <a:r>
              <a:rPr lang="ru-RU" dirty="0" err="1"/>
              <a:t>способността</a:t>
            </a:r>
            <a:r>
              <a:rPr lang="ru-RU" dirty="0"/>
              <a:t> да се </a:t>
            </a:r>
            <a:r>
              <a:rPr lang="ru-RU" dirty="0" err="1"/>
              <a:t>вижда</a:t>
            </a:r>
            <a:r>
              <a:rPr lang="ru-RU" dirty="0"/>
              <a:t> при слаба светлина или </a:t>
            </a:r>
            <a:r>
              <a:rPr lang="ru-RU" dirty="0" err="1"/>
              <a:t>тъмнина</a:t>
            </a:r>
            <a:r>
              <a:rPr lang="ru-RU" dirty="0"/>
              <a:t>.</a:t>
            </a:r>
            <a:br>
              <a:rPr lang="ru-RU" dirty="0"/>
            </a:br>
            <a:r>
              <a:rPr lang="ru-RU" b="1" dirty="0"/>
              <a:t>Влияние:</a:t>
            </a:r>
            <a:r>
              <a:rPr lang="ru-RU" dirty="0"/>
              <a:t> Важно е за безопасно </a:t>
            </a:r>
            <a:r>
              <a:rPr lang="ru-RU" dirty="0" err="1"/>
              <a:t>шофиране</a:t>
            </a:r>
            <a:r>
              <a:rPr lang="ru-RU" dirty="0"/>
              <a:t> </a:t>
            </a:r>
            <a:r>
              <a:rPr lang="ru-RU" dirty="0" err="1"/>
              <a:t>през</a:t>
            </a:r>
            <a:r>
              <a:rPr lang="ru-RU" dirty="0"/>
              <a:t> </a:t>
            </a:r>
            <a:r>
              <a:rPr lang="ru-RU" dirty="0" err="1"/>
              <a:t>нощта</a:t>
            </a:r>
            <a:r>
              <a:rPr lang="ru-RU" dirty="0"/>
              <a:t>, но е </a:t>
            </a:r>
            <a:r>
              <a:rPr lang="ru-RU" dirty="0" err="1"/>
              <a:t>по-слабо</a:t>
            </a:r>
            <a:r>
              <a:rPr lang="ru-RU" dirty="0"/>
              <a:t> от </a:t>
            </a:r>
            <a:r>
              <a:rPr lang="ru-RU" dirty="0" err="1"/>
              <a:t>дневното</a:t>
            </a:r>
            <a:r>
              <a:rPr lang="ru-RU" dirty="0"/>
              <a:t> зрение.</a:t>
            </a:r>
          </a:p>
          <a:p>
            <a:pPr marL="0" indent="0">
              <a:buNone/>
            </a:pPr>
            <a:endParaRPr lang="ru-RU" dirty="0"/>
          </a:p>
          <a:p>
            <a:pPr marL="0" indent="0">
              <a:buNone/>
            </a:pPr>
            <a:endParaRPr lang="ru-RU" sz="2000" dirty="0"/>
          </a:p>
          <a:p>
            <a:pPr marL="0" indent="0" algn="just">
              <a:buNone/>
            </a:pPr>
            <a:endParaRPr lang="bg-BG" sz="2400" dirty="0">
              <a:latin typeface="Georgia" panose="02040502050405020303" pitchFamily="18" charset="0"/>
            </a:endParaRPr>
          </a:p>
        </p:txBody>
      </p:sp>
      <p:sp>
        <p:nvSpPr>
          <p:cNvPr id="8" name="TextBox 7">
            <a:extLst>
              <a:ext uri="{FF2B5EF4-FFF2-40B4-BE49-F238E27FC236}">
                <a16:creationId xmlns:a16="http://schemas.microsoft.com/office/drawing/2014/main" id="{B1F3E08A-86D6-ACBA-54A6-AD5914D78940}"/>
              </a:ext>
            </a:extLst>
          </p:cNvPr>
          <p:cNvSpPr txBox="1"/>
          <p:nvPr/>
        </p:nvSpPr>
        <p:spPr>
          <a:xfrm>
            <a:off x="455170" y="225593"/>
            <a:ext cx="9887710" cy="646331"/>
          </a:xfrm>
          <a:prstGeom prst="rect">
            <a:avLst/>
          </a:prstGeom>
          <a:noFill/>
        </p:spPr>
        <p:txBody>
          <a:bodyPr wrap="square" rtlCol="0">
            <a:spAutoFit/>
          </a:bodyPr>
          <a:lstStyle/>
          <a:p>
            <a:pPr algn="ctr"/>
            <a:r>
              <a:rPr lang="bg-BG" sz="3600" dirty="0">
                <a:latin typeface="+mj-lt"/>
              </a:rPr>
              <a:t>Сензорни характеристики на зрението</a:t>
            </a:r>
            <a:endParaRPr lang="en-US" sz="3600" dirty="0">
              <a:latin typeface="+mj-lt"/>
            </a:endParaRPr>
          </a:p>
        </p:txBody>
      </p:sp>
    </p:spTree>
    <p:extLst>
      <p:ext uri="{BB962C8B-B14F-4D97-AF65-F5344CB8AC3E}">
        <p14:creationId xmlns:p14="http://schemas.microsoft.com/office/powerpoint/2010/main" val="99288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a:extLst>
            <a:ext uri="{FF2B5EF4-FFF2-40B4-BE49-F238E27FC236}">
              <a16:creationId xmlns:a16="http://schemas.microsoft.com/office/drawing/2014/main" id="{DFF84AA6-8D5E-D210-20F9-819354E4C4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61D48A-AF87-559E-6B69-94F2A30A321D}"/>
              </a:ext>
            </a:extLst>
          </p:cNvPr>
          <p:cNvSpPr>
            <a:spLocks noGrp="1"/>
          </p:cNvSpPr>
          <p:nvPr>
            <p:ph idx="1"/>
          </p:nvPr>
        </p:nvSpPr>
        <p:spPr>
          <a:xfrm>
            <a:off x="805305" y="1581111"/>
            <a:ext cx="10797415" cy="2493050"/>
          </a:xfrm>
        </p:spPr>
        <p:txBody>
          <a:bodyPr>
            <a:noAutofit/>
          </a:bodyPr>
          <a:lstStyle/>
          <a:p>
            <a:pPr marL="0" indent="0" algn="ctr">
              <a:buNone/>
            </a:pPr>
            <a:r>
              <a:rPr lang="ru-RU" sz="2400" dirty="0" err="1"/>
              <a:t>Безопасността</a:t>
            </a:r>
            <a:r>
              <a:rPr lang="ru-RU" sz="2400" dirty="0"/>
              <a:t> на </a:t>
            </a:r>
            <a:r>
              <a:rPr lang="ru-RU" sz="2400" dirty="0" err="1"/>
              <a:t>движението</a:t>
            </a:r>
            <a:r>
              <a:rPr lang="ru-RU" sz="2400" dirty="0"/>
              <a:t> </a:t>
            </a:r>
            <a:r>
              <a:rPr lang="ru-RU" sz="2400" dirty="0" err="1"/>
              <a:t>зависи</a:t>
            </a:r>
            <a:r>
              <a:rPr lang="ru-RU" sz="2400" dirty="0"/>
              <a:t> от </a:t>
            </a:r>
            <a:r>
              <a:rPr lang="ru-RU" sz="2400" dirty="0" err="1"/>
              <a:t>правилното</a:t>
            </a:r>
            <a:r>
              <a:rPr lang="ru-RU" sz="2400" dirty="0"/>
              <a:t> поведение на </a:t>
            </a:r>
            <a:r>
              <a:rPr lang="ru-RU" sz="2400" dirty="0" err="1"/>
              <a:t>всички</a:t>
            </a:r>
            <a:r>
              <a:rPr lang="ru-RU" sz="2400" dirty="0"/>
              <a:t> </a:t>
            </a:r>
            <a:r>
              <a:rPr lang="ru-RU" sz="2400" dirty="0" err="1"/>
              <a:t>участници</a:t>
            </a:r>
            <a:r>
              <a:rPr lang="ru-RU" sz="2400" dirty="0"/>
              <a:t> и </a:t>
            </a:r>
            <a:r>
              <a:rPr lang="ru-RU" sz="2400" dirty="0" err="1"/>
              <a:t>спазването</a:t>
            </a:r>
            <a:r>
              <a:rPr lang="ru-RU" sz="2400" dirty="0"/>
              <a:t> на </a:t>
            </a:r>
            <a:r>
              <a:rPr lang="ru-RU" sz="2400" dirty="0" err="1"/>
              <a:t>пътните</a:t>
            </a:r>
            <a:r>
              <a:rPr lang="ru-RU" sz="2400" dirty="0"/>
              <a:t> правила и </a:t>
            </a:r>
            <a:r>
              <a:rPr lang="ru-RU" sz="2400" dirty="0" err="1"/>
              <a:t>знаци</a:t>
            </a:r>
            <a:r>
              <a:rPr lang="ru-RU" sz="2400" dirty="0"/>
              <a:t>. Важна роля </a:t>
            </a:r>
            <a:r>
              <a:rPr lang="ru-RU" sz="2400" dirty="0" err="1"/>
              <a:t>имат</a:t>
            </a:r>
            <a:r>
              <a:rPr lang="ru-RU" sz="2400" dirty="0"/>
              <a:t> </a:t>
            </a:r>
            <a:r>
              <a:rPr lang="ru-RU" sz="2400" dirty="0" err="1"/>
              <a:t>вниманието</a:t>
            </a:r>
            <a:r>
              <a:rPr lang="ru-RU" sz="2400" dirty="0"/>
              <a:t>, </a:t>
            </a:r>
            <a:r>
              <a:rPr lang="ru-RU" sz="2400" dirty="0" err="1"/>
              <a:t>добрите</a:t>
            </a:r>
            <a:r>
              <a:rPr lang="ru-RU" sz="2400" dirty="0"/>
              <a:t> реакции, </a:t>
            </a:r>
            <a:r>
              <a:rPr lang="ru-RU" sz="2400" dirty="0" err="1"/>
              <a:t>техническото</a:t>
            </a:r>
            <a:r>
              <a:rPr lang="ru-RU" sz="2400" dirty="0"/>
              <a:t> </a:t>
            </a:r>
            <a:r>
              <a:rPr lang="ru-RU" sz="2400" dirty="0" err="1"/>
              <a:t>състояние</a:t>
            </a:r>
            <a:r>
              <a:rPr lang="ru-RU" sz="2400" dirty="0"/>
              <a:t> на </a:t>
            </a:r>
            <a:r>
              <a:rPr lang="ru-RU" sz="2400" dirty="0" err="1"/>
              <a:t>превозните</a:t>
            </a:r>
            <a:r>
              <a:rPr lang="ru-RU" sz="2400" dirty="0"/>
              <a:t> средства и </a:t>
            </a:r>
            <a:r>
              <a:rPr lang="ru-RU" sz="2400" dirty="0" err="1"/>
              <a:t>физическото</a:t>
            </a:r>
            <a:r>
              <a:rPr lang="ru-RU" sz="2400" dirty="0"/>
              <a:t> </a:t>
            </a:r>
            <a:r>
              <a:rPr lang="ru-RU" sz="2400" dirty="0" err="1"/>
              <a:t>състояние</a:t>
            </a:r>
            <a:r>
              <a:rPr lang="ru-RU" sz="2400" dirty="0"/>
              <a:t> на </a:t>
            </a:r>
            <a:r>
              <a:rPr lang="ru-RU" sz="2400" dirty="0" err="1"/>
              <a:t>водача</a:t>
            </a:r>
            <a:r>
              <a:rPr lang="ru-RU" sz="2400" dirty="0"/>
              <a:t>. </a:t>
            </a:r>
            <a:r>
              <a:rPr lang="ru-RU" sz="2400" dirty="0" err="1"/>
              <a:t>Отговорното</a:t>
            </a:r>
            <a:r>
              <a:rPr lang="ru-RU" sz="2400" dirty="0"/>
              <a:t> поведение на </a:t>
            </a:r>
            <a:r>
              <a:rPr lang="ru-RU" sz="2400" dirty="0" err="1"/>
              <a:t>пътя</a:t>
            </a:r>
            <a:r>
              <a:rPr lang="ru-RU" sz="2400" dirty="0"/>
              <a:t> </a:t>
            </a:r>
            <a:r>
              <a:rPr lang="ru-RU" sz="2400" dirty="0" err="1"/>
              <a:t>намалява</a:t>
            </a:r>
            <a:r>
              <a:rPr lang="ru-RU" sz="2400" dirty="0"/>
              <a:t> риска от </a:t>
            </a:r>
            <a:r>
              <a:rPr lang="ru-RU" sz="2400" dirty="0" err="1"/>
              <a:t>произшествия</a:t>
            </a:r>
            <a:r>
              <a:rPr lang="ru-RU" sz="2400" dirty="0"/>
              <a:t> и </a:t>
            </a:r>
            <a:r>
              <a:rPr lang="ru-RU" sz="2400" dirty="0" err="1"/>
              <a:t>спасява</a:t>
            </a:r>
            <a:r>
              <a:rPr lang="ru-RU" sz="2400" dirty="0"/>
              <a:t> </a:t>
            </a:r>
            <a:r>
              <a:rPr lang="ru-RU" sz="2400" dirty="0" err="1"/>
              <a:t>човешки</a:t>
            </a:r>
            <a:r>
              <a:rPr lang="ru-RU" sz="2400" dirty="0"/>
              <a:t> </a:t>
            </a:r>
            <a:r>
              <a:rPr lang="ru-RU" sz="2400" dirty="0" err="1"/>
              <a:t>животи</a:t>
            </a:r>
            <a:r>
              <a:rPr lang="ru-RU" sz="2400" dirty="0"/>
              <a:t>.</a:t>
            </a:r>
          </a:p>
          <a:p>
            <a:pPr marL="0" indent="0">
              <a:buNone/>
            </a:pPr>
            <a:endParaRPr lang="ru-RU" sz="2000" dirty="0"/>
          </a:p>
          <a:p>
            <a:pPr marL="0" indent="0" algn="just">
              <a:buNone/>
            </a:pPr>
            <a:endParaRPr lang="bg-BG" sz="2400" dirty="0">
              <a:latin typeface="Georgia" panose="02040502050405020303" pitchFamily="18" charset="0"/>
            </a:endParaRPr>
          </a:p>
        </p:txBody>
      </p:sp>
      <p:sp>
        <p:nvSpPr>
          <p:cNvPr id="8" name="TextBox 7">
            <a:extLst>
              <a:ext uri="{FF2B5EF4-FFF2-40B4-BE49-F238E27FC236}">
                <a16:creationId xmlns:a16="http://schemas.microsoft.com/office/drawing/2014/main" id="{B1F3E08A-86D6-ACBA-54A6-AD5914D78940}"/>
              </a:ext>
            </a:extLst>
          </p:cNvPr>
          <p:cNvSpPr txBox="1"/>
          <p:nvPr/>
        </p:nvSpPr>
        <p:spPr>
          <a:xfrm>
            <a:off x="805305" y="520233"/>
            <a:ext cx="9059035" cy="646331"/>
          </a:xfrm>
          <a:prstGeom prst="rect">
            <a:avLst/>
          </a:prstGeom>
          <a:noFill/>
        </p:spPr>
        <p:txBody>
          <a:bodyPr wrap="square" rtlCol="0">
            <a:spAutoFit/>
          </a:bodyPr>
          <a:lstStyle/>
          <a:p>
            <a:pPr algn="ctr"/>
            <a:r>
              <a:rPr lang="bg-BG" sz="3600" dirty="0">
                <a:latin typeface="+mj-lt"/>
              </a:rPr>
              <a:t>Заключение</a:t>
            </a:r>
            <a:endParaRPr lang="en-US" sz="3600" dirty="0">
              <a:latin typeface="+mj-lt"/>
            </a:endParaRPr>
          </a:p>
        </p:txBody>
      </p:sp>
      <p:pic>
        <p:nvPicPr>
          <p:cNvPr id="9220" name="Picture 4" descr="Safe Drive Save Life - YouTube">
            <a:extLst>
              <a:ext uri="{FF2B5EF4-FFF2-40B4-BE49-F238E27FC236}">
                <a16:creationId xmlns:a16="http://schemas.microsoft.com/office/drawing/2014/main" id="{7DA43289-6E2B-FD9D-4078-A4F0BAF606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50" y="4163060"/>
            <a:ext cx="4425950" cy="2478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0216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423</TotalTime>
  <Words>1168</Words>
  <Application>Microsoft Office PowerPoint</Application>
  <PresentationFormat>Widescreen</PresentationFormat>
  <Paragraphs>73</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Century Gothic</vt:lpstr>
      <vt:lpstr>Georgia</vt:lpstr>
      <vt:lpstr>Wingdings 3</vt:lpstr>
      <vt:lpstr>Ion</vt:lpstr>
      <vt:lpstr>Безопасност на движението по пътищата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Виолета Маринова</cp:lastModifiedBy>
  <cp:revision>14</cp:revision>
  <dcterms:created xsi:type="dcterms:W3CDTF">2026-05-02T07:39:01Z</dcterms:created>
  <dcterms:modified xsi:type="dcterms:W3CDTF">2026-05-03T12:22:04Z</dcterms:modified>
</cp:coreProperties>
</file>